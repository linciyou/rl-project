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8388" r:id="rId3"/>
    <p:sldId id="286" r:id="rId4"/>
    <p:sldId id="257" r:id="rId5"/>
    <p:sldId id="8395" r:id="rId6"/>
    <p:sldId id="8397" r:id="rId7"/>
    <p:sldId id="260" r:id="rId8"/>
    <p:sldId id="259" r:id="rId9"/>
    <p:sldId id="258" r:id="rId10"/>
    <p:sldId id="8391" r:id="rId11"/>
    <p:sldId id="261" r:id="rId12"/>
    <p:sldId id="262" r:id="rId13"/>
    <p:sldId id="263" r:id="rId14"/>
    <p:sldId id="8394" r:id="rId15"/>
    <p:sldId id="264" r:id="rId16"/>
    <p:sldId id="8389" r:id="rId17"/>
    <p:sldId id="8390" r:id="rId18"/>
    <p:sldId id="8401" r:id="rId19"/>
    <p:sldId id="8403" r:id="rId20"/>
    <p:sldId id="8404" r:id="rId21"/>
    <p:sldId id="8406" r:id="rId22"/>
    <p:sldId id="8407" r:id="rId23"/>
    <p:sldId id="8402" r:id="rId24"/>
    <p:sldId id="8408" r:id="rId25"/>
    <p:sldId id="8409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1" autoAdjust="0"/>
    <p:restoredTop sz="94660"/>
  </p:normalViewPr>
  <p:slideViewPr>
    <p:cSldViewPr snapToGrid="0">
      <p:cViewPr varScale="1">
        <p:scale>
          <a:sx n="79" d="100"/>
          <a:sy n="79" d="100"/>
        </p:scale>
        <p:origin x="7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F47D5-2AE8-4532-AC87-B7090C200CFC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5553C-43C4-454D-AFA5-8D369FF11A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70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A49B3C-D5AD-4786-92B2-BEB2B2F3487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605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999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5553C-43C4-454D-AFA5-8D369FF11AB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991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566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733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3AC78-FFF6-62A3-1323-437A96CC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9F66C7-534D-8749-1E9C-CE57734B7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FCEBD5-CC61-4BB3-FB27-BDACC0FB7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19858-0225-DC13-BCF4-728C06C0AE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051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D50EE-2EDC-625E-487A-B7F06D86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E6C69F-3197-4155-AB8B-B95613DB4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3F342A-2283-0B14-0BBB-BBE3138E6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2D463-356F-61FD-AF88-F9C0BA083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63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72758A-6223-CE28-8164-92CB53DA7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EF6865-909F-94E7-D7E3-670C2C07D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D6530C-1CBA-F0E9-CC43-0C2C3D9F9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542ECA-1C92-406B-1BB2-32DA3957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411F83-1FF1-26AD-0E87-C3E00155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54427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8BF499-1245-8BC1-B7A7-7960EF45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171A6A-E234-9BCB-7B91-747C0A574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822BFE-0CB8-42B1-1AC6-791AC1D1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AFF84F-84BE-1F96-02C0-36008FF3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5C9D42-6C1A-7F8E-161E-9E83337C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52039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09AEBA-6FE5-FE53-9C7B-D30E1A326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353AC6-F64B-EDF8-08B6-EF389967E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EF8384-19D8-F382-4239-81BE18B9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13D3D5-088A-9D9B-0622-6B6D26FC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6FB6DE-7630-0393-48EA-06F80C3A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03799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E50EE-B6C6-D76A-6F23-B87CD264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800AA-CA24-7E6B-6373-6FBAD8CEB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82CB7D-3119-3618-1870-68DB27795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1110EA-77E1-0D2C-2AD0-ACF28623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B652A3-4377-8774-9155-46AF9D0B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D08F14-11A1-7D2F-BBCC-A461E83E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768484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1CBF5D-7785-B6D8-8611-0E0C6BD9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A48E2D-BD8C-3F5B-2477-A142927F6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75AB66-D6AC-679E-EE62-02AE15245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52AC9FC-8788-5E4E-35BD-3BCF40CDE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300DBF1-35FF-DE9C-2E0D-A29CC7594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E6AE5EF-173B-62FD-5477-4B5DF105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76A5F10-CA38-A6E7-04B7-E0368970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CFEE0D9-C234-CDBD-0F09-048E5F33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56890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E77DE7-CCA7-3CB4-F0A3-F258B500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343BC82-F1C8-F072-F93D-0970AC770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47A151-0E22-082A-A7FB-3209A7EE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866901-8D32-37DE-C217-40720D74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69800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712C6BA-87C6-444D-59F7-A24940FC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03C9D4C-C9DE-E903-CB29-5A6BCDD3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B6D80D-2AC0-CDEA-A99A-933FF425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35836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C2604-D30F-8204-8AD3-7025FF2B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5C5CF3-295F-F00D-D0BA-957CD472D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DB45D0-45AF-0A55-5C36-067049A95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53D641-41C7-0F6C-F3FB-CC1388621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0C3CB1-D30C-257A-2510-776D44F30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3F5610-E688-60F5-D713-60E04F66D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13832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7579C-3802-498C-F841-2F939096F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5DDB310-4C9D-B737-32C7-0F015B465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D3D807-3197-5567-21E6-6AD878F0F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B507D3-8470-9FF0-421E-3BD3E234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B0D0F9-228F-9F3D-1DEB-C2EB0585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4B1CF7-353D-2A06-BB65-DB3315F0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10467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456A6D-6231-0728-5FA1-2C326B19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1EDE655-3763-5D7B-8478-2DE219869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32E4E7-23FE-5B6A-776E-2F4378925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994DF-5B64-1D3E-CD95-FD2AE719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41DBC2-4F8B-BF8C-1C74-53D7FA51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6440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8CAD9EA-CC15-0C07-D888-852642D70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7943AC-67CA-779D-DE38-DD795442D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15D6FE-5387-2F44-20B5-8209B407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190731-736C-6D2C-67A4-14410DCB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82ED2-916B-C3FD-6614-510E1C6D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06579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>
            <a:alpha val="6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329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0">
        <p15:prstTrans prst="airplane"/>
      </p:transition>
    </mc:Choice>
    <mc:Fallback xmlns="">
      <p:transition spd="slow" advClick="0" advTm="0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4191F19-1D3C-6CBF-C3ED-4996E55A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FCC9B55-E3CD-D7AD-51D4-39DA742FC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C1A263-4069-0F39-9BB1-6939D43F5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1BE88F-DBEB-4E6C-BEC4-5BF3EB6BF339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673664-2541-ECDE-5258-DF277EBF3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491C9E-9278-D21A-7179-615A401D4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07F46-F8BA-46F2-9E61-F2ACCF72B4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62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AB74478-173D-329E-F0E3-ECB74E9D0670}"/>
              </a:ext>
            </a:extLst>
          </p:cNvPr>
          <p:cNvSpPr/>
          <p:nvPr/>
        </p:nvSpPr>
        <p:spPr>
          <a:xfrm>
            <a:off x="3795031" y="3884356"/>
            <a:ext cx="4188279" cy="65825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latin typeface="Times New Roman"/>
                <a:ea typeface="標楷體"/>
                <a:cs typeface="Times New Roman"/>
                <a:sym typeface="Source Han Serif SC" panose="02020400000000000000" pitchFamily="18" charset="-122"/>
              </a:rPr>
              <a:t>資工碩一 劉子銘 </a:t>
            </a:r>
            <a:r>
              <a:rPr lang="en-US" altLang="zh-TW" sz="1600" dirty="0">
                <a:solidFill>
                  <a:schemeClr val="bg2">
                    <a:lumMod val="25000"/>
                  </a:schemeClr>
                </a:solidFill>
                <a:latin typeface="Times New Roman"/>
                <a:ea typeface="標楷體"/>
                <a:cs typeface="Times New Roman"/>
                <a:sym typeface="Source Han Serif SC" panose="02020400000000000000" pitchFamily="18" charset="-122"/>
              </a:rPr>
              <a:t>7114056012</a:t>
            </a:r>
            <a:endParaRPr lang="en-US" altLang="zh-TW" sz="1600" dirty="0">
              <a:solidFill>
                <a:schemeClr val="bg2">
                  <a:lumMod val="25000"/>
                </a:schemeClr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lnSpc>
                <a:spcPct val="120000"/>
              </a:lnSpc>
            </a:pPr>
            <a:r>
              <a:rPr lang="zh-TW" altLang="en-US" sz="1600" dirty="0">
                <a:solidFill>
                  <a:schemeClr val="bg2">
                    <a:lumMod val="25000"/>
                  </a:schemeClr>
                </a:solidFill>
                <a:latin typeface="Times New Roman"/>
                <a:ea typeface="標楷體"/>
                <a:cs typeface="Times New Roman"/>
                <a:sym typeface="Source Han Serif SC" panose="02020400000000000000" pitchFamily="18" charset="-122"/>
              </a:rPr>
              <a:t>資工碩一 林頎祐 </a:t>
            </a:r>
            <a:r>
              <a:rPr lang="en-US" altLang="zh-TW" sz="1600" dirty="0">
                <a:solidFill>
                  <a:schemeClr val="bg2">
                    <a:lumMod val="25000"/>
                  </a:schemeClr>
                </a:solidFill>
                <a:latin typeface="Times New Roman"/>
                <a:ea typeface="標楷體"/>
                <a:cs typeface="Times New Roman"/>
                <a:sym typeface="Source Han Serif SC" panose="02020400000000000000" pitchFamily="18" charset="-122"/>
              </a:rPr>
              <a:t>7114056076</a:t>
            </a:r>
            <a:endParaRPr lang="en-US" altLang="zh-TW" sz="1600" dirty="0">
              <a:solidFill>
                <a:schemeClr val="bg2">
                  <a:lumMod val="25000"/>
                </a:schemeClr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文本框 10">
            <a:extLst>
              <a:ext uri="{FF2B5EF4-FFF2-40B4-BE49-F238E27FC236}">
                <a16:creationId xmlns:a16="http://schemas.microsoft.com/office/drawing/2014/main" id="{CEEF26A8-72D1-1744-56BB-0F1785678CEE}"/>
              </a:ext>
            </a:extLst>
          </p:cNvPr>
          <p:cNvSpPr txBox="1"/>
          <p:nvPr/>
        </p:nvSpPr>
        <p:spPr>
          <a:xfrm>
            <a:off x="2173791" y="1646645"/>
            <a:ext cx="7844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5400" b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智慧化工廠製程優化</a:t>
            </a:r>
            <a:endParaRPr lang="zh-TW" altLang="en-US" sz="5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24CD74F7-3EAB-C2FD-3E72-13D494A7992E}"/>
              </a:ext>
            </a:extLst>
          </p:cNvPr>
          <p:cNvSpPr txBox="1">
            <a:spLocks noChangeAspect="1"/>
          </p:cNvSpPr>
          <p:nvPr/>
        </p:nvSpPr>
        <p:spPr bwMode="auto">
          <a:xfrm>
            <a:off x="1765320" y="2680927"/>
            <a:ext cx="8661357" cy="565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TW" altLang="en-US" sz="2800" noProof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邁向高效、安全與永續的未來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0F385E-14D4-D011-AC5E-B72F9B7A5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91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组合 99">
            <a:extLst>
              <a:ext uri="{FF2B5EF4-FFF2-40B4-BE49-F238E27FC236}">
                <a16:creationId xmlns:a16="http://schemas.microsoft.com/office/drawing/2014/main" id="{58FEF153-7E3E-4CE3-80F7-86C8E5E46355}"/>
              </a:ext>
            </a:extLst>
          </p:cNvPr>
          <p:cNvGrpSpPr/>
          <p:nvPr/>
        </p:nvGrpSpPr>
        <p:grpSpPr>
          <a:xfrm>
            <a:off x="7122875" y="435020"/>
            <a:ext cx="5544407" cy="847292"/>
            <a:chOff x="551593" y="497013"/>
            <a:chExt cx="5544407" cy="847292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2DD7D8E-018C-4915-AD8C-EB42360FBE96}"/>
                </a:ext>
              </a:extLst>
            </p:cNvPr>
            <p:cNvSpPr/>
            <p:nvPr/>
          </p:nvSpPr>
          <p:spPr>
            <a:xfrm>
              <a:off x="551593" y="497013"/>
              <a:ext cx="55444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noProof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Source Han Serif SC" panose="02020400000000000000" pitchFamily="18" charset="-122"/>
                </a:rPr>
                <a:t>CONTENTS</a:t>
              </a:r>
              <a:endParaRPr kumimoji="0" lang="zh-CN" altLang="en-US" sz="4800" b="0" i="0" u="none" strike="noStrike" kern="1200" cap="none" spc="0" normalizeH="0" noProof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Source Han Serif SC" panose="02020400000000000000" pitchFamily="18" charset="-122"/>
              </a:endParaRPr>
            </a:p>
          </p:txBody>
        </p:sp>
        <p:cxnSp>
          <p:nvCxnSpPr>
            <p:cNvPr id="99" name="0 _4">
              <a:extLst>
                <a:ext uri="{FF2B5EF4-FFF2-40B4-BE49-F238E27FC236}">
                  <a16:creationId xmlns:a16="http://schemas.microsoft.com/office/drawing/2014/main" id="{EF81DDC9-A1B8-49A6-970E-B321AA3AD5F6}"/>
                </a:ext>
              </a:extLst>
            </p:cNvPr>
            <p:cNvCxnSpPr/>
            <p:nvPr/>
          </p:nvCxnSpPr>
          <p:spPr>
            <a:xfrm>
              <a:off x="707839" y="1344305"/>
              <a:ext cx="5119805" cy="0"/>
            </a:xfrm>
            <a:prstGeom prst="line">
              <a:avLst/>
            </a:prstGeom>
            <a:ln w="25400">
              <a:gradFill>
                <a:gsLst>
                  <a:gs pos="49000">
                    <a:srgbClr val="3B3838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3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C83A7EB6-51FF-471D-9428-AD79575DFF9A}"/>
              </a:ext>
            </a:extLst>
          </p:cNvPr>
          <p:cNvGrpSpPr/>
          <p:nvPr/>
        </p:nvGrpSpPr>
        <p:grpSpPr>
          <a:xfrm>
            <a:off x="1431071" y="1795725"/>
            <a:ext cx="4943359" cy="914400"/>
            <a:chOff x="568560" y="3186685"/>
            <a:chExt cx="4943359" cy="914400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EA1AE984-61FA-4B1A-AB43-459E4ED12C70}"/>
                </a:ext>
              </a:extLst>
            </p:cNvPr>
            <p:cNvSpPr/>
            <p:nvPr/>
          </p:nvSpPr>
          <p:spPr>
            <a:xfrm rot="18900000">
              <a:off x="654766" y="3269421"/>
              <a:ext cx="743129" cy="736269"/>
            </a:xfrm>
            <a:prstGeom prst="rect">
              <a:avLst/>
            </a:prstGeom>
            <a:noFill/>
            <a:ln w="19050">
              <a:gradFill flip="none" rotWithShape="1">
                <a:gsLst>
                  <a:gs pos="67000">
                    <a:srgbClr val="B6C6DD">
                      <a:alpha val="52000"/>
                    </a:srgbClr>
                  </a:gs>
                  <a:gs pos="0">
                    <a:schemeClr val="accent1">
                      <a:lumMod val="5000"/>
                      <a:lumOff val="95000"/>
                      <a:alpha val="43000"/>
                    </a:schemeClr>
                  </a:gs>
                  <a:gs pos="100000">
                    <a:srgbClr val="425C8F">
                      <a:alpha val="61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noProof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endParaRP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C423CFAC-BE4E-4B41-8143-A6672E6485CB}"/>
                </a:ext>
              </a:extLst>
            </p:cNvPr>
            <p:cNvGrpSpPr/>
            <p:nvPr/>
          </p:nvGrpSpPr>
          <p:grpSpPr>
            <a:xfrm>
              <a:off x="568560" y="3186685"/>
              <a:ext cx="4943359" cy="914400"/>
              <a:chOff x="568560" y="3186685"/>
              <a:chExt cx="4943359" cy="914400"/>
            </a:xfrm>
          </p:grpSpPr>
          <p:grpSp>
            <p:nvGrpSpPr>
              <p:cNvPr id="77" name="原创设计师QQ69613753    _6">
                <a:extLst>
                  <a:ext uri="{FF2B5EF4-FFF2-40B4-BE49-F238E27FC236}">
                    <a16:creationId xmlns:a16="http://schemas.microsoft.com/office/drawing/2014/main" id="{21DFD4C6-B46B-4114-A1CD-113F9EBD8D6C}"/>
                  </a:ext>
                </a:extLst>
              </p:cNvPr>
              <p:cNvGrpSpPr/>
              <p:nvPr/>
            </p:nvGrpSpPr>
            <p:grpSpPr>
              <a:xfrm>
                <a:off x="1673788" y="3300482"/>
                <a:ext cx="3838131" cy="789542"/>
                <a:chOff x="1754849" y="2297933"/>
                <a:chExt cx="3838131" cy="789542"/>
              </a:xfrm>
            </p:grpSpPr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6FF01AF-CCCB-40CC-82E4-C182E331F654}"/>
                    </a:ext>
                  </a:extLst>
                </p:cNvPr>
                <p:cNvSpPr txBox="1"/>
                <p:nvPr/>
              </p:nvSpPr>
              <p:spPr>
                <a:xfrm>
                  <a:off x="1754849" y="2687365"/>
                  <a:ext cx="383813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TW" sz="2000" b="0" i="0" u="none" strike="noStrike" kern="1200" cap="none" spc="0" normalizeH="0" noProof="0">
                      <a:ln>
                        <a:noFill/>
                      </a:ln>
                      <a:solidFill>
                        <a:srgbClr val="3B3838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標楷體" panose="03000509000000000000" pitchFamily="65" charset="-120"/>
                      <a:sym typeface="Source Han Serif SC" panose="02020400000000000000" pitchFamily="18" charset="-122"/>
                    </a:rPr>
                    <a:t>Introduction</a:t>
                  </a:r>
                  <a:endParaRPr kumimoji="0" lang="zh-CN" altLang="en-US" sz="2000" b="0" i="0" u="none" strike="noStrike" kern="1200" cap="none" spc="0" normalizeH="0" noProof="0">
                    <a:ln>
                      <a:noFill/>
                    </a:ln>
                    <a:solidFill>
                      <a:srgbClr val="3B383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sym typeface="Source Han Serif SC" panose="02020400000000000000" pitchFamily="18" charset="-122"/>
                  </a:endParaRPr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B812A3E6-25ED-4580-B8C4-C165B748E2A2}"/>
                    </a:ext>
                  </a:extLst>
                </p:cNvPr>
                <p:cNvSpPr txBox="1"/>
                <p:nvPr/>
              </p:nvSpPr>
              <p:spPr>
                <a:xfrm>
                  <a:off x="1754849" y="2297933"/>
                  <a:ext cx="278892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>
                    <a:defRPr/>
                  </a:pPr>
                  <a:r>
                    <a:rPr lang="zh-CN" altLang="en-US" sz="2800" dirty="0">
                      <a:solidFill>
                        <a:srgbClr val="3B3838"/>
                      </a:solidFill>
                      <a:latin typeface="Times New Roman" panose="02020603050405020304" pitchFamily="18" charset="0"/>
                      <a:ea typeface="標楷體" panose="03000509000000000000" pitchFamily="65" charset="-120"/>
                      <a:sym typeface="Source Han Serif SC" panose="02020400000000000000" pitchFamily="18" charset="-122"/>
                    </a:rPr>
                    <a:t>介绍</a:t>
                  </a:r>
                </a:p>
              </p:txBody>
            </p:sp>
          </p:grpSp>
          <p:sp>
            <p:nvSpPr>
              <p:cNvPr id="78" name="原创设计师QQ69613753    _10">
                <a:extLst>
                  <a:ext uri="{FF2B5EF4-FFF2-40B4-BE49-F238E27FC236}">
                    <a16:creationId xmlns:a16="http://schemas.microsoft.com/office/drawing/2014/main" id="{2A51FDC5-C433-4E6B-BBF5-EF8EC4CFED7D}"/>
                  </a:ext>
                </a:extLst>
              </p:cNvPr>
              <p:cNvSpPr/>
              <p:nvPr/>
            </p:nvSpPr>
            <p:spPr>
              <a:xfrm>
                <a:off x="568560" y="3186685"/>
                <a:ext cx="914400" cy="9144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6000" b="1" i="0" u="none" strike="noStrike" kern="1200" cap="none" spc="0" normalizeH="0" noProof="0">
                    <a:ln>
                      <a:noFill/>
                    </a:ln>
                    <a:solidFill>
                      <a:srgbClr val="3B383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cs typeface="Calibri" panose="020F0502020204030204" pitchFamily="34" charset="0"/>
                    <a:sym typeface="Source Han Serif SC" panose="02020400000000000000" pitchFamily="18" charset="-122"/>
                  </a:rPr>
                  <a:t>1</a:t>
                </a:r>
                <a:endParaRPr kumimoji="0" lang="zh-CN" altLang="en-US" sz="6000" b="1" i="0" u="none" strike="noStrike" kern="1200" cap="none" spc="0" normalizeH="0" noProof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Calibri" panose="020F0502020204030204" pitchFamily="34" charset="0"/>
                  <a:sym typeface="Source Han Serif SC" panose="02020400000000000000" pitchFamily="18" charset="-122"/>
                </a:endParaRPr>
              </a:p>
            </p:txBody>
          </p:sp>
        </p:grp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2369A331-EBC2-4165-975F-34F29B470ABB}"/>
              </a:ext>
            </a:extLst>
          </p:cNvPr>
          <p:cNvGrpSpPr/>
          <p:nvPr/>
        </p:nvGrpSpPr>
        <p:grpSpPr>
          <a:xfrm>
            <a:off x="1431071" y="4088359"/>
            <a:ext cx="4991309" cy="914400"/>
            <a:chOff x="233397" y="4890514"/>
            <a:chExt cx="4991309" cy="914400"/>
          </a:xfrm>
        </p:grpSpPr>
        <p:grpSp>
          <p:nvGrpSpPr>
            <p:cNvPr id="82" name="原创设计师QQ69613753    _7">
              <a:extLst>
                <a:ext uri="{FF2B5EF4-FFF2-40B4-BE49-F238E27FC236}">
                  <a16:creationId xmlns:a16="http://schemas.microsoft.com/office/drawing/2014/main" id="{7F54F8E1-33E3-4A1B-8029-73F63158FA86}"/>
                </a:ext>
              </a:extLst>
            </p:cNvPr>
            <p:cNvGrpSpPr/>
            <p:nvPr/>
          </p:nvGrpSpPr>
          <p:grpSpPr>
            <a:xfrm>
              <a:off x="1386575" y="4983721"/>
              <a:ext cx="3838131" cy="789542"/>
              <a:chOff x="1467636" y="2297933"/>
              <a:chExt cx="3838131" cy="789542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64CEB06-CED6-42B7-AB3A-C2979C5360EA}"/>
                  </a:ext>
                </a:extLst>
              </p:cNvPr>
              <p:cNvSpPr txBox="1"/>
              <p:nvPr/>
            </p:nvSpPr>
            <p:spPr>
              <a:xfrm>
                <a:off x="1467636" y="2687365"/>
                <a:ext cx="38381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Methodology</a:t>
                </a:r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B1787185-81F1-409B-8488-11E2B30D36D3}"/>
                  </a:ext>
                </a:extLst>
              </p:cNvPr>
              <p:cNvSpPr txBox="1"/>
              <p:nvPr/>
            </p:nvSpPr>
            <p:spPr>
              <a:xfrm>
                <a:off x="1467636" y="2297933"/>
                <a:ext cx="27889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zh-TW" altLang="en-US" sz="2800" dirty="0">
                    <a:solidFill>
                      <a:srgbClr val="3B3838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sym typeface="Source Han Serif SC" panose="02020400000000000000" pitchFamily="18" charset="-122"/>
                  </a:rPr>
                  <a:t>研究方法</a:t>
                </a:r>
                <a:endParaRPr lang="zh-CN" altLang="en-US" sz="2800" dirty="0">
                  <a:solidFill>
                    <a:srgbClr val="3B3838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83" name="原创设计师QQ69613753    _12">
              <a:extLst>
                <a:ext uri="{FF2B5EF4-FFF2-40B4-BE49-F238E27FC236}">
                  <a16:creationId xmlns:a16="http://schemas.microsoft.com/office/drawing/2014/main" id="{7E37B798-7F89-4C05-BDD5-C677A6D92884}"/>
                </a:ext>
              </a:extLst>
            </p:cNvPr>
            <p:cNvSpPr/>
            <p:nvPr/>
          </p:nvSpPr>
          <p:spPr>
            <a:xfrm>
              <a:off x="233397" y="4890514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0" u="none" strike="noStrike" kern="1200" cap="none" spc="0" normalizeH="0" noProof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Calibri" panose="020F0502020204030204" pitchFamily="34" charset="0"/>
                  <a:sym typeface="Source Han Serif SC" panose="02020400000000000000" pitchFamily="18" charset="-122"/>
                </a:rPr>
                <a:t>3</a:t>
              </a:r>
              <a:endParaRPr kumimoji="0" lang="zh-CN" altLang="en-US" sz="6000" b="1" i="0" u="none" strike="noStrike" kern="1200" cap="none" spc="0" normalizeH="0" noProof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Calibri" panose="020F0502020204030204" pitchFamily="34" charset="0"/>
                <a:sym typeface="Source Han Serif SC" panose="02020400000000000000" pitchFamily="18" charset="-122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7E44E8DC-1B5F-4BE2-B278-DA163B5AD0C2}"/>
                </a:ext>
              </a:extLst>
            </p:cNvPr>
            <p:cNvSpPr/>
            <p:nvPr/>
          </p:nvSpPr>
          <p:spPr>
            <a:xfrm rot="18900000">
              <a:off x="317173" y="4989104"/>
              <a:ext cx="743129" cy="736269"/>
            </a:xfrm>
            <a:prstGeom prst="rect">
              <a:avLst/>
            </a:prstGeom>
            <a:noFill/>
            <a:ln w="19050">
              <a:gradFill flip="none" rotWithShape="1">
                <a:gsLst>
                  <a:gs pos="67000">
                    <a:srgbClr val="B6C6DD">
                      <a:alpha val="52000"/>
                    </a:srgbClr>
                  </a:gs>
                  <a:gs pos="0">
                    <a:schemeClr val="accent1">
                      <a:lumMod val="5000"/>
                      <a:lumOff val="95000"/>
                      <a:alpha val="43000"/>
                    </a:schemeClr>
                  </a:gs>
                  <a:gs pos="100000">
                    <a:srgbClr val="425C8F">
                      <a:alpha val="61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noProof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5454FD62-13B0-4F5E-980E-73DCF56BC2D8}"/>
              </a:ext>
            </a:extLst>
          </p:cNvPr>
          <p:cNvGrpSpPr/>
          <p:nvPr/>
        </p:nvGrpSpPr>
        <p:grpSpPr>
          <a:xfrm>
            <a:off x="1431071" y="2942042"/>
            <a:ext cx="5050147" cy="914400"/>
            <a:chOff x="6887633" y="3186685"/>
            <a:chExt cx="5050147" cy="914400"/>
          </a:xfrm>
        </p:grpSpPr>
        <p:grpSp>
          <p:nvGrpSpPr>
            <p:cNvPr id="88" name="原创设计师QQ69613753    _8">
              <a:extLst>
                <a:ext uri="{FF2B5EF4-FFF2-40B4-BE49-F238E27FC236}">
                  <a16:creationId xmlns:a16="http://schemas.microsoft.com/office/drawing/2014/main" id="{CB040841-F811-4C3C-858C-8D2030AA83B2}"/>
                </a:ext>
              </a:extLst>
            </p:cNvPr>
            <p:cNvGrpSpPr/>
            <p:nvPr/>
          </p:nvGrpSpPr>
          <p:grpSpPr>
            <a:xfrm>
              <a:off x="8040811" y="3279892"/>
              <a:ext cx="3896969" cy="810132"/>
              <a:chOff x="581242" y="2277343"/>
              <a:chExt cx="3896969" cy="810132"/>
            </a:xfrm>
          </p:grpSpPr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6A30C3D3-D87E-4DDD-B5C8-50A7E829FA82}"/>
                  </a:ext>
                </a:extLst>
              </p:cNvPr>
              <p:cNvSpPr txBox="1"/>
              <p:nvPr/>
            </p:nvSpPr>
            <p:spPr>
              <a:xfrm>
                <a:off x="640080" y="2687365"/>
                <a:ext cx="38381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noProof="0" dirty="0">
                    <a:ln>
                      <a:noFill/>
                    </a:ln>
                    <a:solidFill>
                      <a:srgbClr val="3B383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sym typeface="Source Han Serif SC" panose="02020400000000000000" pitchFamily="18" charset="-122"/>
                  </a:rPr>
                  <a:t>Related Work</a:t>
                </a: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AA23347A-99A2-46AC-A651-153CACA0D4FD}"/>
                  </a:ext>
                </a:extLst>
              </p:cNvPr>
              <p:cNvSpPr txBox="1"/>
              <p:nvPr/>
            </p:nvSpPr>
            <p:spPr>
              <a:xfrm>
                <a:off x="581242" y="2277343"/>
                <a:ext cx="27889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zh-TW" altLang="en-US" sz="2800" dirty="0">
                    <a:solidFill>
                      <a:srgbClr val="3B3838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sym typeface="Source Han Serif SC" panose="02020400000000000000" pitchFamily="18" charset="-122"/>
                  </a:rPr>
                  <a:t>相關研究</a:t>
                </a:r>
                <a:endParaRPr lang="zh-CN" altLang="en-US" sz="2800" dirty="0">
                  <a:solidFill>
                    <a:srgbClr val="3B3838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89" name="原创设计师QQ69613753    _11">
              <a:extLst>
                <a:ext uri="{FF2B5EF4-FFF2-40B4-BE49-F238E27FC236}">
                  <a16:creationId xmlns:a16="http://schemas.microsoft.com/office/drawing/2014/main" id="{1EECF592-AFBD-40F1-8FE0-F2F5ADB50A92}"/>
                </a:ext>
              </a:extLst>
            </p:cNvPr>
            <p:cNvSpPr/>
            <p:nvPr/>
          </p:nvSpPr>
          <p:spPr>
            <a:xfrm>
              <a:off x="6887633" y="3186685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0" u="none" strike="noStrike" kern="1200" cap="none" spc="0" normalizeH="0" noProof="0" dirty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Calibri" panose="020F0502020204030204" pitchFamily="34" charset="0"/>
                  <a:sym typeface="Source Han Serif SC" panose="02020400000000000000" pitchFamily="18" charset="-122"/>
                </a:rPr>
                <a:t>2</a:t>
              </a:r>
              <a:endParaRPr kumimoji="0" lang="zh-CN" altLang="en-US" sz="6000" b="1" i="0" u="none" strike="noStrike" kern="1200" cap="none" spc="0" normalizeH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Calibri" panose="020F0502020204030204" pitchFamily="34" charset="0"/>
                <a:sym typeface="Source Han Serif SC" panose="02020400000000000000" pitchFamily="18" charset="-122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D3FE7C5-C547-470E-A93B-E8E78EE79FFC}"/>
                </a:ext>
              </a:extLst>
            </p:cNvPr>
            <p:cNvSpPr/>
            <p:nvPr/>
          </p:nvSpPr>
          <p:spPr>
            <a:xfrm rot="18900000">
              <a:off x="6970208" y="3269421"/>
              <a:ext cx="743129" cy="736269"/>
            </a:xfrm>
            <a:prstGeom prst="rect">
              <a:avLst/>
            </a:prstGeom>
            <a:noFill/>
            <a:ln w="19050">
              <a:gradFill flip="none" rotWithShape="1">
                <a:gsLst>
                  <a:gs pos="67000">
                    <a:srgbClr val="B6C6DD">
                      <a:alpha val="52000"/>
                    </a:srgbClr>
                  </a:gs>
                  <a:gs pos="0">
                    <a:schemeClr val="accent1">
                      <a:lumMod val="5000"/>
                      <a:lumOff val="95000"/>
                      <a:alpha val="43000"/>
                    </a:schemeClr>
                  </a:gs>
                  <a:gs pos="100000">
                    <a:srgbClr val="425C8F">
                      <a:alpha val="61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noProof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endParaRPr>
            </a:p>
          </p:txBody>
        </p:sp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9B5700-7DF5-6AD5-B5C5-A6990C5B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2</a:t>
            </a:fld>
            <a:endParaRPr lang="zh-TW" altLang="en-US"/>
          </a:p>
        </p:txBody>
      </p:sp>
      <p:grpSp>
        <p:nvGrpSpPr>
          <p:cNvPr id="15" name="组合 80">
            <a:extLst>
              <a:ext uri="{FF2B5EF4-FFF2-40B4-BE49-F238E27FC236}">
                <a16:creationId xmlns:a16="http://schemas.microsoft.com/office/drawing/2014/main" id="{5F8DA957-398F-B339-5E59-FF246942105E}"/>
              </a:ext>
            </a:extLst>
          </p:cNvPr>
          <p:cNvGrpSpPr/>
          <p:nvPr/>
        </p:nvGrpSpPr>
        <p:grpSpPr>
          <a:xfrm>
            <a:off x="6602461" y="1841754"/>
            <a:ext cx="4991309" cy="914400"/>
            <a:chOff x="233397" y="4890514"/>
            <a:chExt cx="4991309" cy="914400"/>
          </a:xfrm>
        </p:grpSpPr>
        <p:grpSp>
          <p:nvGrpSpPr>
            <p:cNvPr id="16" name="原创设计师QQ69613753    _7">
              <a:extLst>
                <a:ext uri="{FF2B5EF4-FFF2-40B4-BE49-F238E27FC236}">
                  <a16:creationId xmlns:a16="http://schemas.microsoft.com/office/drawing/2014/main" id="{2A9C98D7-DAF7-E8BB-6E5A-8F4BC46FDDFF}"/>
                </a:ext>
              </a:extLst>
            </p:cNvPr>
            <p:cNvGrpSpPr/>
            <p:nvPr/>
          </p:nvGrpSpPr>
          <p:grpSpPr>
            <a:xfrm>
              <a:off x="1386575" y="4983721"/>
              <a:ext cx="3838131" cy="789542"/>
              <a:chOff x="1467636" y="2297933"/>
              <a:chExt cx="3838131" cy="789542"/>
            </a:xfrm>
          </p:grpSpPr>
          <p:sp>
            <p:nvSpPr>
              <p:cNvPr id="19" name="文本框 84">
                <a:extLst>
                  <a:ext uri="{FF2B5EF4-FFF2-40B4-BE49-F238E27FC236}">
                    <a16:creationId xmlns:a16="http://schemas.microsoft.com/office/drawing/2014/main" id="{40016CAE-4F1D-A375-4A42-9D157DF31817}"/>
                  </a:ext>
                </a:extLst>
              </p:cNvPr>
              <p:cNvSpPr txBox="1"/>
              <p:nvPr/>
            </p:nvSpPr>
            <p:spPr>
              <a:xfrm>
                <a:off x="1467636" y="2687365"/>
                <a:ext cx="38381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83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cs typeface="+mn-cs"/>
                    <a:sym typeface="Source Han Serif SC" panose="02020400000000000000" pitchFamily="18" charset="-122"/>
                  </a:rPr>
                  <a:t>Experiments</a:t>
                </a:r>
              </a:p>
            </p:txBody>
          </p:sp>
          <p:sp>
            <p:nvSpPr>
              <p:cNvPr id="20" name="文本框 85">
                <a:extLst>
                  <a:ext uri="{FF2B5EF4-FFF2-40B4-BE49-F238E27FC236}">
                    <a16:creationId xmlns:a16="http://schemas.microsoft.com/office/drawing/2014/main" id="{F345F8A8-72DD-0FBF-C745-4318D60A472D}"/>
                  </a:ext>
                </a:extLst>
              </p:cNvPr>
              <p:cNvSpPr txBox="1"/>
              <p:nvPr/>
            </p:nvSpPr>
            <p:spPr>
              <a:xfrm>
                <a:off x="1467636" y="2297933"/>
                <a:ext cx="27889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TW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3838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標楷體" panose="03000509000000000000" pitchFamily="65" charset="-120"/>
                    <a:cs typeface="+mn-cs"/>
                    <a:sym typeface="Source Han Serif SC" panose="02020400000000000000" pitchFamily="18" charset="-122"/>
                  </a:rPr>
                  <a:t>實驗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17" name="原创设计师QQ69613753    _12">
              <a:extLst>
                <a:ext uri="{FF2B5EF4-FFF2-40B4-BE49-F238E27FC236}">
                  <a16:creationId xmlns:a16="http://schemas.microsoft.com/office/drawing/2014/main" id="{DA6A7065-901D-B066-2D89-9C20A4686D87}"/>
                </a:ext>
              </a:extLst>
            </p:cNvPr>
            <p:cNvSpPr/>
            <p:nvPr/>
          </p:nvSpPr>
          <p:spPr>
            <a:xfrm>
              <a:off x="233397" y="4890514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TW" sz="6000" b="1" dirty="0">
                  <a:solidFill>
                    <a:srgbClr val="3B3838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Calibri" panose="020F0502020204030204" pitchFamily="34" charset="0"/>
                  <a:sym typeface="Source Han Serif SC" panose="02020400000000000000" pitchFamily="18" charset="-122"/>
                </a:rPr>
                <a:t>4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Calibri" panose="020F0502020204030204" pitchFamily="34" charset="0"/>
                <a:sym typeface="Source Han Serif SC" panose="02020400000000000000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01E8520-E7E8-DE95-FE4F-0289AC7E0E83}"/>
                </a:ext>
              </a:extLst>
            </p:cNvPr>
            <p:cNvSpPr/>
            <p:nvPr/>
          </p:nvSpPr>
          <p:spPr>
            <a:xfrm rot="18900000">
              <a:off x="317173" y="4989104"/>
              <a:ext cx="743129" cy="736269"/>
            </a:xfrm>
            <a:prstGeom prst="rect">
              <a:avLst/>
            </a:prstGeom>
            <a:noFill/>
            <a:ln w="19050">
              <a:gradFill flip="none" rotWithShape="1">
                <a:gsLst>
                  <a:gs pos="67000">
                    <a:srgbClr val="B6C6DD">
                      <a:alpha val="52000"/>
                    </a:srgbClr>
                  </a:gs>
                  <a:gs pos="0">
                    <a:schemeClr val="accent1">
                      <a:lumMod val="5000"/>
                      <a:lumOff val="95000"/>
                      <a:alpha val="43000"/>
                    </a:schemeClr>
                  </a:gs>
                  <a:gs pos="100000">
                    <a:srgbClr val="425C8F">
                      <a:alpha val="61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  <a:sym typeface="Source Han Serif SC" panose="02020400000000000000" pitchFamily="18" charset="-122"/>
              </a:endParaRPr>
            </a:p>
          </p:txBody>
        </p:sp>
      </p:grpSp>
      <p:grpSp>
        <p:nvGrpSpPr>
          <p:cNvPr id="22" name="组合 80">
            <a:extLst>
              <a:ext uri="{FF2B5EF4-FFF2-40B4-BE49-F238E27FC236}">
                <a16:creationId xmlns:a16="http://schemas.microsoft.com/office/drawing/2014/main" id="{9FDDE10F-B72F-A4FD-B070-5F8C0777C43C}"/>
              </a:ext>
            </a:extLst>
          </p:cNvPr>
          <p:cNvGrpSpPr/>
          <p:nvPr/>
        </p:nvGrpSpPr>
        <p:grpSpPr>
          <a:xfrm>
            <a:off x="6602461" y="3011493"/>
            <a:ext cx="4991309" cy="914400"/>
            <a:chOff x="233397" y="4890514"/>
            <a:chExt cx="4991309" cy="914400"/>
          </a:xfrm>
        </p:grpSpPr>
        <p:grpSp>
          <p:nvGrpSpPr>
            <p:cNvPr id="23" name="原创设计师QQ69613753    _7">
              <a:extLst>
                <a:ext uri="{FF2B5EF4-FFF2-40B4-BE49-F238E27FC236}">
                  <a16:creationId xmlns:a16="http://schemas.microsoft.com/office/drawing/2014/main" id="{69B4225C-D18F-14C5-B355-81C96F04AA29}"/>
                </a:ext>
              </a:extLst>
            </p:cNvPr>
            <p:cNvGrpSpPr/>
            <p:nvPr/>
          </p:nvGrpSpPr>
          <p:grpSpPr>
            <a:xfrm>
              <a:off x="1386575" y="4983721"/>
              <a:ext cx="3838131" cy="789542"/>
              <a:chOff x="1467636" y="2297933"/>
              <a:chExt cx="3838131" cy="789542"/>
            </a:xfrm>
          </p:grpSpPr>
          <p:sp>
            <p:nvSpPr>
              <p:cNvPr id="26" name="文本框 84">
                <a:extLst>
                  <a:ext uri="{FF2B5EF4-FFF2-40B4-BE49-F238E27FC236}">
                    <a16:creationId xmlns:a16="http://schemas.microsoft.com/office/drawing/2014/main" id="{FB66F805-D3D0-7D23-AEC5-B2CFB078DC9C}"/>
                  </a:ext>
                </a:extLst>
              </p:cNvPr>
              <p:cNvSpPr txBox="1"/>
              <p:nvPr/>
            </p:nvSpPr>
            <p:spPr>
              <a:xfrm>
                <a:off x="1467636" y="2687365"/>
                <a:ext cx="38381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000" dirty="0">
                    <a:solidFill>
                      <a:srgbClr val="3B3838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sym typeface="Source Han Serif SC" panose="02020400000000000000" pitchFamily="18" charset="-122"/>
                  </a:rPr>
                  <a:t>Conclusions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  <a:sym typeface="Source Han Serif SC" panose="02020400000000000000" pitchFamily="18" charset="-122"/>
                </a:endParaRPr>
              </a:p>
            </p:txBody>
          </p:sp>
          <p:sp>
            <p:nvSpPr>
              <p:cNvPr id="27" name="文本框 85">
                <a:extLst>
                  <a:ext uri="{FF2B5EF4-FFF2-40B4-BE49-F238E27FC236}">
                    <a16:creationId xmlns:a16="http://schemas.microsoft.com/office/drawing/2014/main" id="{871B8B31-BFB5-3767-694D-50B905C90D42}"/>
                  </a:ext>
                </a:extLst>
              </p:cNvPr>
              <p:cNvSpPr txBox="1"/>
              <p:nvPr/>
            </p:nvSpPr>
            <p:spPr>
              <a:xfrm>
                <a:off x="1467636" y="2297933"/>
                <a:ext cx="27889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sz="2800" dirty="0">
                    <a:solidFill>
                      <a:srgbClr val="3B3838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sym typeface="Source Han Serif SC" panose="02020400000000000000" pitchFamily="18" charset="-122"/>
                  </a:rPr>
                  <a:t>結論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+mn-cs"/>
                  <a:sym typeface="Source Han Serif SC" panose="02020400000000000000" pitchFamily="18" charset="-122"/>
                </a:endParaRPr>
              </a:p>
            </p:txBody>
          </p:sp>
        </p:grpSp>
        <p:sp>
          <p:nvSpPr>
            <p:cNvPr id="24" name="原创设计师QQ69613753    _12">
              <a:extLst>
                <a:ext uri="{FF2B5EF4-FFF2-40B4-BE49-F238E27FC236}">
                  <a16:creationId xmlns:a16="http://schemas.microsoft.com/office/drawing/2014/main" id="{51B7E39E-4411-5279-86C3-1B3B863F8360}"/>
                </a:ext>
              </a:extLst>
            </p:cNvPr>
            <p:cNvSpPr/>
            <p:nvPr/>
          </p:nvSpPr>
          <p:spPr>
            <a:xfrm>
              <a:off x="233397" y="4890514"/>
              <a:ext cx="914400" cy="9144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標楷體" panose="03000509000000000000" pitchFamily="65" charset="-120"/>
                  <a:cs typeface="Calibri" panose="020F0502020204030204" pitchFamily="34" charset="0"/>
                  <a:sym typeface="Source Han Serif SC" panose="02020400000000000000" pitchFamily="18" charset="-122"/>
                </a:rPr>
                <a:t>5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Calibri" panose="020F0502020204030204" pitchFamily="34" charset="0"/>
                <a:sym typeface="Source Han Serif SC" panose="02020400000000000000" pitchFamily="18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D134214-241E-1E8A-EF31-B23D7AF7AB9E}"/>
                </a:ext>
              </a:extLst>
            </p:cNvPr>
            <p:cNvSpPr/>
            <p:nvPr/>
          </p:nvSpPr>
          <p:spPr>
            <a:xfrm rot="18900000">
              <a:off x="317173" y="4989104"/>
              <a:ext cx="743129" cy="736269"/>
            </a:xfrm>
            <a:prstGeom prst="rect">
              <a:avLst/>
            </a:prstGeom>
            <a:noFill/>
            <a:ln w="19050">
              <a:gradFill flip="none" rotWithShape="1">
                <a:gsLst>
                  <a:gs pos="67000">
                    <a:srgbClr val="B6C6DD">
                      <a:alpha val="52000"/>
                    </a:srgbClr>
                  </a:gs>
                  <a:gs pos="0">
                    <a:schemeClr val="accent1">
                      <a:lumMod val="5000"/>
                      <a:lumOff val="95000"/>
                      <a:alpha val="43000"/>
                    </a:schemeClr>
                  </a:gs>
                  <a:gs pos="100000">
                    <a:srgbClr val="425C8F">
                      <a:alpha val="61000"/>
                    </a:srgb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  <a:sym typeface="Source Han Serif SC" panose="020204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611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9">
            <a:extLst>
              <a:ext uri="{FF2B5EF4-FFF2-40B4-BE49-F238E27FC236}">
                <a16:creationId xmlns:a16="http://schemas.microsoft.com/office/drawing/2014/main" id="{BA1717BD-FFCC-47B3-9BA7-7F4729EE2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F4BD971-199B-46A0-88D0-3FC7B73E5152}"/>
              </a:ext>
            </a:extLst>
          </p:cNvPr>
          <p:cNvSpPr txBox="1"/>
          <p:nvPr/>
        </p:nvSpPr>
        <p:spPr>
          <a:xfrm>
            <a:off x="3925887" y="2413073"/>
            <a:ext cx="1057092" cy="221599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38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1</a:t>
            </a:r>
            <a:endParaRPr lang="zh-CN" altLang="en-US" sz="1380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2" name="菱形 1"/>
          <p:cNvSpPr/>
          <p:nvPr/>
        </p:nvSpPr>
        <p:spPr>
          <a:xfrm>
            <a:off x="3199174" y="2199135"/>
            <a:ext cx="2643868" cy="2643868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5302611" y="1371821"/>
            <a:ext cx="4298496" cy="4298496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99687" y="2876239"/>
            <a:ext cx="3904343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>
              <a:defRPr/>
            </a:pPr>
            <a:r>
              <a:rPr lang="zh-CN" altLang="en-US" dirty="0">
                <a:solidFill>
                  <a:srgbClr val="3B3838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介绍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96000" y="3429000"/>
            <a:ext cx="271171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11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en-US" altLang="zh-TW" sz="2400">
                <a:solidFill>
                  <a:srgbClr val="3B3838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Introduction</a:t>
            </a:r>
            <a:endParaRPr lang="zh-CN" altLang="en-US" sz="2400">
              <a:solidFill>
                <a:srgbClr val="3B3838"/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1FF329-DACD-4655-8B3E-E88AC1EAF593}"/>
              </a:ext>
            </a:extLst>
          </p:cNvPr>
          <p:cNvSpPr txBox="1"/>
          <p:nvPr/>
        </p:nvSpPr>
        <p:spPr>
          <a:xfrm>
            <a:off x="3685677" y="3391508"/>
            <a:ext cx="14700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000" b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PART 01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78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1517C82-FEE8-03CC-FB69-0D4DD8018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744131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67E91C8-0E4C-77B3-36A0-7295F999A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53403"/>
              </p:ext>
            </p:extLst>
          </p:nvPr>
        </p:nvGraphicFramePr>
        <p:xfrm>
          <a:off x="0" y="37084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背景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/>
                          <a:ea typeface="標楷體"/>
                        </a:rPr>
                        <a:t>現有問題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研究目的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9C45C1-6083-7B1C-6E98-70444999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3" name="Google Shape;101;p15">
            <a:extLst>
              <a:ext uri="{FF2B5EF4-FFF2-40B4-BE49-F238E27FC236}">
                <a16:creationId xmlns:a16="http://schemas.microsoft.com/office/drawing/2014/main" id="{1DFEBD63-35E3-3225-161E-88F8B406E58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34125" y="1657350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2;p15">
            <a:extLst>
              <a:ext uri="{FF2B5EF4-FFF2-40B4-BE49-F238E27FC236}">
                <a16:creationId xmlns:a16="http://schemas.microsoft.com/office/drawing/2014/main" id="{4869CB7C-BBD1-511E-6C62-F5FB470E63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3175" y="1676400"/>
            <a:ext cx="524827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3;p15">
            <a:extLst>
              <a:ext uri="{FF2B5EF4-FFF2-40B4-BE49-F238E27FC236}">
                <a16:creationId xmlns:a16="http://schemas.microsoft.com/office/drawing/2014/main" id="{A0039DDF-BF42-7CB5-8F7A-D369D4487F7D}"/>
              </a:ext>
            </a:extLst>
          </p:cNvPr>
          <p:cNvSpPr txBox="1"/>
          <p:nvPr/>
        </p:nvSpPr>
        <p:spPr>
          <a:xfrm>
            <a:off x="857251" y="2130313"/>
            <a:ext cx="50006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高能耗與高碳排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：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傳統製程能源利用率低，面對日益嚴格的淨零排放法規，企業面臨巨大的轉型壓力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。</a:t>
            </a:r>
            <a:endParaRPr sz="1600" dirty="0">
              <a:latin typeface="+mn-ea"/>
              <a:ea typeface="+mn-ea"/>
            </a:endParaRPr>
          </a:p>
        </p:txBody>
      </p:sp>
      <p:sp>
        <p:nvSpPr>
          <p:cNvPr id="9" name="Google Shape;104;p15">
            <a:extLst>
              <a:ext uri="{FF2B5EF4-FFF2-40B4-BE49-F238E27FC236}">
                <a16:creationId xmlns:a16="http://schemas.microsoft.com/office/drawing/2014/main" id="{4C62D11E-9775-4780-E0C9-6C7B6376889D}"/>
              </a:ext>
            </a:extLst>
          </p:cNvPr>
          <p:cNvSpPr txBox="1"/>
          <p:nvPr/>
        </p:nvSpPr>
        <p:spPr>
          <a:xfrm>
            <a:off x="857251" y="2978038"/>
            <a:ext cx="50006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工安風險管理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：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化工廠環境複雜，操作失誤或設備異常可能導致嚴重的安全事故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。</a:t>
            </a:r>
            <a:endParaRPr sz="1600" dirty="0">
              <a:latin typeface="+mn-ea"/>
              <a:ea typeface="+mn-ea"/>
            </a:endParaRPr>
          </a:p>
        </p:txBody>
      </p:sp>
      <p:sp>
        <p:nvSpPr>
          <p:cNvPr id="10" name="Google Shape;105;p15">
            <a:extLst>
              <a:ext uri="{FF2B5EF4-FFF2-40B4-BE49-F238E27FC236}">
                <a16:creationId xmlns:a16="http://schemas.microsoft.com/office/drawing/2014/main" id="{037D7F60-42CC-970F-1B42-574917FD35F6}"/>
              </a:ext>
            </a:extLst>
          </p:cNvPr>
          <p:cNvSpPr txBox="1"/>
          <p:nvPr/>
        </p:nvSpPr>
        <p:spPr>
          <a:xfrm>
            <a:off x="857251" y="3825763"/>
            <a:ext cx="50006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生產效率瓶頸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：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高度依賴人工經驗調整參數，難以即時應對原料波動與市場需求變化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。</a:t>
            </a:r>
            <a:endParaRPr sz="1600" dirty="0">
              <a:latin typeface="+mn-ea"/>
              <a:ea typeface="+mn-ea"/>
            </a:endParaRPr>
          </a:p>
        </p:txBody>
      </p:sp>
      <p:sp>
        <p:nvSpPr>
          <p:cNvPr id="14" name="Google Shape;109;p15">
            <a:extLst>
              <a:ext uri="{FF2B5EF4-FFF2-40B4-BE49-F238E27FC236}">
                <a16:creationId xmlns:a16="http://schemas.microsoft.com/office/drawing/2014/main" id="{D5D46C2D-8F5C-EF98-BDA3-2448BE748FEB}"/>
              </a:ext>
            </a:extLst>
          </p:cNvPr>
          <p:cNvSpPr txBox="1"/>
          <p:nvPr/>
        </p:nvSpPr>
        <p:spPr>
          <a:xfrm>
            <a:off x="857251" y="881998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Merriweather"/>
                <a:sym typeface="Merriweather"/>
              </a:rPr>
              <a:t>化工產業現況與挑戰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03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1517C82-FEE8-03CC-FB69-0D4DD8018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41862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0112333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6001213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67E91C8-0E4C-77B3-36A0-7295F999A12D}"/>
              </a:ext>
            </a:extLst>
          </p:cNvPr>
          <p:cNvGraphicFramePr>
            <a:graphicFrameLocks noGrp="1"/>
          </p:cNvGraphicFramePr>
          <p:nvPr/>
        </p:nvGraphicFramePr>
        <p:xfrm>
          <a:off x="0" y="37084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背景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/>
                          <a:ea typeface="標楷體"/>
                        </a:rPr>
                        <a:t>現有問題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研究目的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9C45C1-6083-7B1C-6E98-70444999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8" name="Google Shape;103;p15">
            <a:extLst>
              <a:ext uri="{FF2B5EF4-FFF2-40B4-BE49-F238E27FC236}">
                <a16:creationId xmlns:a16="http://schemas.microsoft.com/office/drawing/2014/main" id="{A0039DDF-BF42-7CB5-8F7A-D369D4487F7D}"/>
              </a:ext>
            </a:extLst>
          </p:cNvPr>
          <p:cNvSpPr txBox="1"/>
          <p:nvPr/>
        </p:nvSpPr>
        <p:spPr>
          <a:xfrm>
            <a:off x="857251" y="1852255"/>
            <a:ext cx="1102052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60000"/>
              </a:lnSpc>
            </a:pPr>
            <a:r>
              <a:rPr lang="zh-TW" altLang="en-US" dirty="0">
                <a:latin typeface="+mn-lt"/>
                <a:ea typeface="+mn-ea"/>
              </a:rPr>
              <a:t>多數國際研究與產業報告指出，導入 </a:t>
            </a:r>
            <a:r>
              <a:rPr lang="en-US" altLang="zh-TW" dirty="0">
                <a:latin typeface="+mn-lt"/>
                <a:ea typeface="+mn-ea"/>
              </a:rPr>
              <a:t>AI </a:t>
            </a:r>
            <a:r>
              <a:rPr lang="zh-TW" altLang="en-US" dirty="0">
                <a:latin typeface="+mn-lt"/>
                <a:ea typeface="+mn-ea"/>
              </a:rPr>
              <a:t>與數據技術到化工製程，已成為提升效率與節能的主流做法。例如，</a:t>
            </a:r>
            <a:r>
              <a:rPr lang="en-US" altLang="zh-TW" dirty="0">
                <a:latin typeface="+mn-lt"/>
                <a:ea typeface="+mn-ea"/>
              </a:rPr>
              <a:t>Dow Chemical </a:t>
            </a:r>
            <a:r>
              <a:rPr lang="zh-TW" altLang="en-US" dirty="0">
                <a:latin typeface="+mn-lt"/>
                <a:ea typeface="+mn-ea"/>
              </a:rPr>
              <a:t>的 </a:t>
            </a:r>
            <a:r>
              <a:rPr lang="en-US" altLang="zh-TW" dirty="0">
                <a:latin typeface="+mn-lt"/>
                <a:ea typeface="+mn-ea"/>
              </a:rPr>
              <a:t>AI </a:t>
            </a:r>
            <a:r>
              <a:rPr lang="zh-TW" altLang="en-US" dirty="0">
                <a:latin typeface="+mn-lt"/>
                <a:ea typeface="+mn-ea"/>
              </a:rPr>
              <a:t>批次製程優化案例顯示，產量可提升約 </a:t>
            </a:r>
            <a:r>
              <a:rPr lang="en-US" altLang="zh-TW" dirty="0">
                <a:latin typeface="+mn-lt"/>
                <a:ea typeface="+mn-ea"/>
              </a:rPr>
              <a:t>20</a:t>
            </a:r>
            <a:r>
              <a:rPr lang="zh-TW" altLang="en-US" dirty="0">
                <a:latin typeface="+mn-lt"/>
                <a:ea typeface="+mn-ea"/>
              </a:rPr>
              <a:t>％，能源消耗降低約 </a:t>
            </a:r>
            <a:r>
              <a:rPr lang="en-US" altLang="zh-TW" dirty="0">
                <a:latin typeface="+mn-lt"/>
                <a:ea typeface="+mn-ea"/>
              </a:rPr>
              <a:t>15</a:t>
            </a:r>
            <a:r>
              <a:rPr lang="zh-TW" altLang="en-US" dirty="0">
                <a:latin typeface="+mn-lt"/>
                <a:ea typeface="+mn-ea"/>
              </a:rPr>
              <a:t>％，品質異常率下降約 </a:t>
            </a:r>
            <a:r>
              <a:rPr lang="en-US" altLang="zh-TW" dirty="0">
                <a:latin typeface="+mn-lt"/>
                <a:ea typeface="+mn-ea"/>
              </a:rPr>
              <a:t>30</a:t>
            </a:r>
            <a:r>
              <a:rPr lang="zh-TW" altLang="en-US" dirty="0">
                <a:latin typeface="+mn-lt"/>
                <a:ea typeface="+mn-ea"/>
              </a:rPr>
              <a:t>％；</a:t>
            </a:r>
            <a:r>
              <a:rPr lang="en-US" altLang="zh-TW" dirty="0">
                <a:latin typeface="+mn-lt"/>
                <a:ea typeface="+mn-ea"/>
              </a:rPr>
              <a:t>BASF </a:t>
            </a:r>
            <a:r>
              <a:rPr lang="zh-TW" altLang="en-US" dirty="0">
                <a:latin typeface="+mn-lt"/>
                <a:ea typeface="+mn-ea"/>
              </a:rPr>
              <a:t>等大型化工廠則藉由 </a:t>
            </a:r>
            <a:r>
              <a:rPr lang="en-US" altLang="zh-TW" dirty="0">
                <a:latin typeface="+mn-lt"/>
                <a:ea typeface="+mn-ea"/>
              </a:rPr>
              <a:t>AI </a:t>
            </a:r>
            <a:r>
              <a:rPr lang="zh-TW" altLang="en-US" dirty="0">
                <a:latin typeface="+mn-lt"/>
                <a:ea typeface="+mn-ea"/>
              </a:rPr>
              <a:t>預測性維護，降低維護成本約 </a:t>
            </a:r>
            <a:r>
              <a:rPr lang="en-US" altLang="zh-TW" dirty="0">
                <a:latin typeface="+mn-lt"/>
                <a:ea typeface="+mn-ea"/>
              </a:rPr>
              <a:t>20–30</a:t>
            </a:r>
            <a:r>
              <a:rPr lang="zh-TW" altLang="en-US" dirty="0">
                <a:latin typeface="+mn-lt"/>
                <a:ea typeface="+mn-ea"/>
              </a:rPr>
              <a:t>％，並減少非計畫停機與延長設備壽命達 </a:t>
            </a:r>
            <a:r>
              <a:rPr lang="en-US" altLang="zh-TW" dirty="0">
                <a:latin typeface="+mn-lt"/>
                <a:ea typeface="+mn-ea"/>
              </a:rPr>
              <a:t>10–25</a:t>
            </a:r>
            <a:r>
              <a:rPr lang="zh-TW" altLang="en-US" dirty="0">
                <a:latin typeface="+mn-lt"/>
                <a:ea typeface="+mn-ea"/>
              </a:rPr>
              <a:t>％（</a:t>
            </a:r>
            <a:r>
              <a:rPr lang="en-US" altLang="zh-TW" dirty="0" err="1">
                <a:latin typeface="+mn-lt"/>
                <a:ea typeface="+mn-ea"/>
              </a:rPr>
              <a:t>ChemEngConsulting</a:t>
            </a:r>
            <a:r>
              <a:rPr lang="zh-TW" altLang="en-US" dirty="0">
                <a:latin typeface="+mn-lt"/>
                <a:ea typeface="+mn-ea"/>
              </a:rPr>
              <a:t>，</a:t>
            </a:r>
            <a:r>
              <a:rPr lang="en-US" altLang="zh-TW" dirty="0">
                <a:latin typeface="+mn-lt"/>
                <a:ea typeface="+mn-ea"/>
              </a:rPr>
              <a:t>2025</a:t>
            </a:r>
            <a:r>
              <a:rPr lang="zh-TW" altLang="en-US" dirty="0">
                <a:latin typeface="+mn-lt"/>
                <a:ea typeface="+mn-ea"/>
              </a:rPr>
              <a:t>）。 這些案例顯示，智慧化工廠並非僅是概念，而是已有可量化效益的實務方向。</a:t>
            </a:r>
            <a:endParaRPr sz="1600" dirty="0">
              <a:latin typeface="+mn-lt"/>
              <a:ea typeface="+mn-ea"/>
            </a:endParaRPr>
          </a:p>
        </p:txBody>
      </p:sp>
      <p:sp>
        <p:nvSpPr>
          <p:cNvPr id="14" name="Google Shape;109;p15">
            <a:extLst>
              <a:ext uri="{FF2B5EF4-FFF2-40B4-BE49-F238E27FC236}">
                <a16:creationId xmlns:a16="http://schemas.microsoft.com/office/drawing/2014/main" id="{D5D46C2D-8F5C-EF98-BDA3-2448BE748FEB}"/>
              </a:ext>
            </a:extLst>
          </p:cNvPr>
          <p:cNvSpPr txBox="1"/>
          <p:nvPr/>
        </p:nvSpPr>
        <p:spPr>
          <a:xfrm>
            <a:off x="857251" y="881998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3600" dirty="0">
                <a:latin typeface="+mj-ea"/>
                <a:ea typeface="+mj-ea"/>
              </a:rPr>
              <a:t>智慧化工廠製程優化的國際趨勢與效益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ECD859-61B4-4532-BAEA-9B1F13507049}"/>
              </a:ext>
            </a:extLst>
          </p:cNvPr>
          <p:cNvSpPr/>
          <p:nvPr/>
        </p:nvSpPr>
        <p:spPr>
          <a:xfrm>
            <a:off x="757680" y="3429000"/>
            <a:ext cx="45704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dirty="0">
                <a:latin typeface="+mj-lt"/>
                <a:ea typeface="+mj-ea"/>
              </a:rPr>
              <a:t>能源節省與 </a:t>
            </a:r>
            <a:r>
              <a:rPr lang="en-US" altLang="zh-TW" sz="3600" dirty="0">
                <a:latin typeface="+mj-lt"/>
                <a:ea typeface="+mj-ea"/>
              </a:rPr>
              <a:t>ESG </a:t>
            </a:r>
            <a:r>
              <a:rPr lang="zh-TW" altLang="en-US" sz="3600" dirty="0">
                <a:latin typeface="+mj-lt"/>
                <a:ea typeface="+mj-ea"/>
              </a:rPr>
              <a:t>效益</a:t>
            </a:r>
            <a:endParaRPr lang="zh-TW" altLang="en-US" sz="3600" b="0" i="0" dirty="0">
              <a:effectLst/>
              <a:latin typeface="+mj-lt"/>
              <a:ea typeface="+mj-ea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F04AAE8-985C-4B86-996D-5419B04413F3}"/>
              </a:ext>
            </a:extLst>
          </p:cNvPr>
          <p:cNvSpPr txBox="1"/>
          <p:nvPr/>
        </p:nvSpPr>
        <p:spPr>
          <a:xfrm>
            <a:off x="1300899" y="4788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13" name="Google Shape;103;p15">
            <a:extLst>
              <a:ext uri="{FF2B5EF4-FFF2-40B4-BE49-F238E27FC236}">
                <a16:creationId xmlns:a16="http://schemas.microsoft.com/office/drawing/2014/main" id="{B07F08C8-38AB-485E-88F0-9254910751C0}"/>
              </a:ext>
            </a:extLst>
          </p:cNvPr>
          <p:cNvSpPr txBox="1"/>
          <p:nvPr/>
        </p:nvSpPr>
        <p:spPr>
          <a:xfrm>
            <a:off x="857251" y="4491590"/>
            <a:ext cx="11020522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60000"/>
              </a:lnSpc>
            </a:pPr>
            <a:r>
              <a:rPr lang="zh-TW" altLang="en-US" dirty="0">
                <a:latin typeface="+mn-lt"/>
                <a:ea typeface="+mn-ea"/>
              </a:rPr>
              <a:t>近年 </a:t>
            </a:r>
            <a:r>
              <a:rPr lang="en-US" altLang="zh-TW" dirty="0">
                <a:latin typeface="+mn-lt"/>
                <a:ea typeface="+mn-ea"/>
              </a:rPr>
              <a:t>AI </a:t>
            </a:r>
            <a:r>
              <a:rPr lang="zh-TW" altLang="en-US" dirty="0">
                <a:latin typeface="+mn-lt"/>
                <a:ea typeface="+mn-ea"/>
              </a:rPr>
              <a:t>在化工廠能源系統的應用，普遍帶來約 </a:t>
            </a:r>
            <a:r>
              <a:rPr lang="en-US" altLang="zh-TW" dirty="0">
                <a:latin typeface="+mn-lt"/>
                <a:ea typeface="+mn-ea"/>
              </a:rPr>
              <a:t>12–15</a:t>
            </a:r>
            <a:r>
              <a:rPr lang="zh-TW" altLang="en-US" dirty="0">
                <a:latin typeface="+mn-lt"/>
                <a:ea typeface="+mn-ea"/>
              </a:rPr>
              <a:t>％ 的能源節省，同時降低排放與廢料量（</a:t>
            </a:r>
            <a:r>
              <a:rPr lang="en-US" altLang="zh-TW" dirty="0">
                <a:latin typeface="+mn-lt"/>
                <a:ea typeface="+mn-ea"/>
              </a:rPr>
              <a:t>AI in Chemical Manufacturing, 2026</a:t>
            </a:r>
            <a:r>
              <a:rPr lang="zh-TW" altLang="en-US" dirty="0">
                <a:latin typeface="+mn-lt"/>
                <a:ea typeface="+mn-ea"/>
              </a:rPr>
              <a:t>；</a:t>
            </a:r>
            <a:r>
              <a:rPr lang="en-US" altLang="zh-TW" dirty="0" err="1">
                <a:latin typeface="+mn-lt"/>
                <a:ea typeface="+mn-ea"/>
              </a:rPr>
              <a:t>ChemIndigest</a:t>
            </a:r>
            <a:r>
              <a:rPr lang="en-US" altLang="zh-TW" dirty="0">
                <a:latin typeface="+mn-lt"/>
                <a:ea typeface="+mn-ea"/>
              </a:rPr>
              <a:t>, 2026</a:t>
            </a:r>
            <a:r>
              <a:rPr lang="zh-TW" altLang="en-US" dirty="0">
                <a:latin typeface="+mn-lt"/>
                <a:ea typeface="+mn-ea"/>
              </a:rPr>
              <a:t>）。 在冷卻塔與鍋爐等高耗能單元，</a:t>
            </a:r>
            <a:r>
              <a:rPr lang="en-US" altLang="zh-TW" dirty="0">
                <a:latin typeface="+mn-lt"/>
                <a:ea typeface="+mn-ea"/>
              </a:rPr>
              <a:t>AI </a:t>
            </a:r>
            <a:r>
              <a:rPr lang="zh-TW" altLang="en-US" dirty="0">
                <a:latin typeface="+mn-lt"/>
                <a:ea typeface="+mn-ea"/>
              </a:rPr>
              <a:t>可根據溫度、流量與環境條件動態調整操作參數，實務案例顯示可節約燃料約 </a:t>
            </a:r>
            <a:r>
              <a:rPr lang="en-US" altLang="zh-TW" dirty="0">
                <a:latin typeface="+mn-lt"/>
                <a:ea typeface="+mn-ea"/>
              </a:rPr>
              <a:t>5</a:t>
            </a:r>
            <a:r>
              <a:rPr lang="zh-TW" altLang="en-US" dirty="0">
                <a:latin typeface="+mn-lt"/>
                <a:ea typeface="+mn-ea"/>
              </a:rPr>
              <a:t>％，並減少相應的 </a:t>
            </a:r>
            <a:r>
              <a:rPr lang="en-US" altLang="zh-TW" dirty="0">
                <a:latin typeface="+mn-lt"/>
                <a:ea typeface="+mn-ea"/>
              </a:rPr>
              <a:t>CO₂ </a:t>
            </a:r>
            <a:r>
              <a:rPr lang="zh-TW" altLang="en-US" dirty="0">
                <a:latin typeface="+mn-lt"/>
                <a:ea typeface="+mn-ea"/>
              </a:rPr>
              <a:t>排放（</a:t>
            </a:r>
            <a:r>
              <a:rPr lang="en-US" altLang="zh-TW" dirty="0" err="1">
                <a:latin typeface="+mn-lt"/>
                <a:ea typeface="+mn-ea"/>
              </a:rPr>
              <a:t>Intelecy</a:t>
            </a:r>
            <a:r>
              <a:rPr lang="zh-TW" altLang="en-US" dirty="0">
                <a:latin typeface="+mn-lt"/>
                <a:ea typeface="+mn-ea"/>
              </a:rPr>
              <a:t>，</a:t>
            </a:r>
            <a:r>
              <a:rPr lang="en-US" altLang="zh-TW" dirty="0">
                <a:latin typeface="+mn-lt"/>
                <a:ea typeface="+mn-ea"/>
              </a:rPr>
              <a:t>2024</a:t>
            </a:r>
            <a:r>
              <a:rPr lang="zh-TW" altLang="en-US" dirty="0">
                <a:latin typeface="+mn-lt"/>
                <a:ea typeface="+mn-ea"/>
              </a:rPr>
              <a:t>）。 這些數據顯示，智慧化工廠不僅有助於降低成本，也可直接支持企業的 </a:t>
            </a:r>
            <a:r>
              <a:rPr lang="en-US" altLang="zh-TW" dirty="0">
                <a:latin typeface="+mn-lt"/>
                <a:ea typeface="+mn-ea"/>
              </a:rPr>
              <a:t>ESG </a:t>
            </a:r>
            <a:r>
              <a:rPr lang="zh-TW" altLang="en-US" dirty="0">
                <a:latin typeface="+mn-lt"/>
                <a:ea typeface="+mn-ea"/>
              </a:rPr>
              <a:t>與淨零目標。</a:t>
            </a:r>
            <a:endParaRPr sz="1600" dirty="0">
              <a:latin typeface="+mn-lt"/>
              <a:ea typeface="+mn-ea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48755D8-6359-4CD1-855D-17A7CB4B9679}"/>
              </a:ext>
            </a:extLst>
          </p:cNvPr>
          <p:cNvCxnSpPr/>
          <p:nvPr/>
        </p:nvCxnSpPr>
        <p:spPr>
          <a:xfrm>
            <a:off x="575035" y="5854045"/>
            <a:ext cx="113027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6B1D232-3E4D-4A09-894D-D6C8804D0C8B}"/>
              </a:ext>
            </a:extLst>
          </p:cNvPr>
          <p:cNvSpPr txBox="1"/>
          <p:nvPr/>
        </p:nvSpPr>
        <p:spPr>
          <a:xfrm>
            <a:off x="575035" y="5918414"/>
            <a:ext cx="47852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/>
              <a:t>ChemEngConsulting</a:t>
            </a:r>
            <a:r>
              <a:rPr lang="zh-TW" altLang="en-US" sz="1000" dirty="0"/>
              <a:t>，</a:t>
            </a:r>
            <a:r>
              <a:rPr lang="en-US" altLang="zh-TW" sz="1000" dirty="0"/>
              <a:t>2025, </a:t>
            </a:r>
            <a:r>
              <a:rPr lang="en-US" altLang="zh-TW" sz="1000" dirty="0" err="1"/>
              <a:t>ChemIndigest</a:t>
            </a:r>
            <a:r>
              <a:rPr lang="en-US" altLang="zh-TW" sz="1000" dirty="0"/>
              <a:t>, 2026</a:t>
            </a:r>
            <a:r>
              <a:rPr lang="zh-TW" altLang="en-US" sz="1000" dirty="0"/>
              <a:t>；</a:t>
            </a:r>
            <a:r>
              <a:rPr lang="en-US" altLang="zh-TW" sz="1000" dirty="0"/>
              <a:t>AI in Chemical Manufacturing, 2026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1384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67E91C8-0E4C-77B3-36A0-7295F999A12D}"/>
              </a:ext>
            </a:extLst>
          </p:cNvPr>
          <p:cNvGraphicFramePr>
            <a:graphicFrameLocks noGrp="1"/>
          </p:cNvGraphicFramePr>
          <p:nvPr/>
        </p:nvGraphicFramePr>
        <p:xfrm>
          <a:off x="0" y="37084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背景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/>
                          <a:ea typeface="標楷體"/>
                        </a:rPr>
                        <a:t>現有問題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研究目的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9C45C1-6083-7B1C-6E98-70444999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8" name="Google Shape;103;p15">
            <a:extLst>
              <a:ext uri="{FF2B5EF4-FFF2-40B4-BE49-F238E27FC236}">
                <a16:creationId xmlns:a16="http://schemas.microsoft.com/office/drawing/2014/main" id="{A0039DDF-BF42-7CB5-8F7A-D369D4487F7D}"/>
              </a:ext>
            </a:extLst>
          </p:cNvPr>
          <p:cNvSpPr txBox="1"/>
          <p:nvPr/>
        </p:nvSpPr>
        <p:spPr>
          <a:xfrm>
            <a:off x="857251" y="2050161"/>
            <a:ext cx="1102052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dirty="0">
                <a:latin typeface="+mn-lt"/>
                <a:ea typeface="+mn-ea"/>
              </a:rPr>
              <a:t>在台灣，</a:t>
            </a:r>
            <a:r>
              <a:rPr lang="en-US" altLang="zh-TW" dirty="0">
                <a:latin typeface="+mn-lt"/>
                <a:ea typeface="+mn-ea"/>
              </a:rPr>
              <a:t>2025 </a:t>
            </a:r>
            <a:r>
              <a:rPr lang="zh-TW" altLang="en-US" dirty="0">
                <a:latin typeface="+mn-lt"/>
                <a:ea typeface="+mn-ea"/>
              </a:rPr>
              <a:t>年</a:t>
            </a:r>
            <a:r>
              <a:rPr lang="en-US" altLang="zh-TW" dirty="0">
                <a:latin typeface="+mn-lt"/>
                <a:ea typeface="+mn-ea"/>
              </a:rPr>
              <a:t>《</a:t>
            </a:r>
            <a:r>
              <a:rPr lang="zh-TW" altLang="en-US" dirty="0">
                <a:latin typeface="+mn-lt"/>
                <a:ea typeface="+mn-ea"/>
              </a:rPr>
              <a:t>工業材料雜誌</a:t>
            </a:r>
            <a:r>
              <a:rPr lang="en-US" altLang="zh-TW" dirty="0">
                <a:latin typeface="+mn-lt"/>
                <a:ea typeface="+mn-ea"/>
              </a:rPr>
              <a:t>》</a:t>
            </a:r>
            <a:r>
              <a:rPr lang="zh-TW" altLang="en-US" dirty="0">
                <a:latin typeface="+mn-lt"/>
                <a:ea typeface="+mn-ea"/>
              </a:rPr>
              <a:t>指出，已有化工廠導入 </a:t>
            </a:r>
            <a:r>
              <a:rPr lang="en-US" altLang="zh-TW" dirty="0">
                <a:latin typeface="+mn-lt"/>
                <a:ea typeface="+mn-ea"/>
              </a:rPr>
              <a:t>AI </a:t>
            </a:r>
            <a:r>
              <a:rPr lang="zh-TW" altLang="en-US" dirty="0">
                <a:latin typeface="+mn-lt"/>
                <a:ea typeface="+mn-ea"/>
              </a:rPr>
              <a:t>技術進行製程控制、異常診斷與能源最佳化，並在 </a:t>
            </a:r>
            <a:r>
              <a:rPr lang="en-US" altLang="zh-TW" dirty="0">
                <a:latin typeface="+mn-lt"/>
                <a:ea typeface="+mn-ea"/>
              </a:rPr>
              <a:t>MBR </a:t>
            </a:r>
            <a:r>
              <a:rPr lang="zh-TW" altLang="en-US" dirty="0">
                <a:latin typeface="+mn-lt"/>
                <a:ea typeface="+mn-ea"/>
              </a:rPr>
              <a:t>等系統中成功提升運轉效率與節能效益（</a:t>
            </a:r>
            <a:r>
              <a:rPr lang="en-US" altLang="zh-TW" dirty="0">
                <a:latin typeface="+mn-lt"/>
                <a:ea typeface="+mn-ea"/>
              </a:rPr>
              <a:t>《</a:t>
            </a:r>
            <a:r>
              <a:rPr lang="zh-TW" altLang="en-US" dirty="0">
                <a:latin typeface="+mn-lt"/>
                <a:ea typeface="+mn-ea"/>
              </a:rPr>
              <a:t>工業材料雜誌</a:t>
            </a:r>
            <a:r>
              <a:rPr lang="en-US" altLang="zh-TW" dirty="0">
                <a:latin typeface="+mn-lt"/>
                <a:ea typeface="+mn-ea"/>
              </a:rPr>
              <a:t>》</a:t>
            </a:r>
            <a:r>
              <a:rPr lang="zh-TW" altLang="en-US" dirty="0">
                <a:latin typeface="+mn-lt"/>
                <a:ea typeface="+mn-ea"/>
              </a:rPr>
              <a:t>，</a:t>
            </a:r>
            <a:r>
              <a:rPr lang="en-US" altLang="zh-TW" dirty="0">
                <a:latin typeface="+mn-lt"/>
                <a:ea typeface="+mn-ea"/>
              </a:rPr>
              <a:t>2025</a:t>
            </a:r>
            <a:r>
              <a:rPr lang="zh-TW" altLang="en-US" dirty="0">
                <a:latin typeface="+mn-lt"/>
                <a:ea typeface="+mn-ea"/>
              </a:rPr>
              <a:t>）。 工研院材化所更提出「混合模型」，結合實體模擬與少量現場數據，用於生產優化與設備失效預測，提升模型在資料有限環境下的可信度與可擴散性，顯示台灣在智慧化工廠架構設計上已有具體技術基礎。</a:t>
            </a:r>
          </a:p>
          <a:p>
            <a:br>
              <a:rPr lang="zh-TW" altLang="en-US" dirty="0">
                <a:latin typeface="+mn-lt"/>
                <a:ea typeface="+mn-ea"/>
              </a:rPr>
            </a:br>
            <a:endParaRPr sz="1600" dirty="0">
              <a:latin typeface="+mn-lt"/>
              <a:ea typeface="+mn-ea"/>
            </a:endParaRPr>
          </a:p>
        </p:txBody>
      </p:sp>
      <p:sp>
        <p:nvSpPr>
          <p:cNvPr id="14" name="Google Shape;109;p15">
            <a:extLst>
              <a:ext uri="{FF2B5EF4-FFF2-40B4-BE49-F238E27FC236}">
                <a16:creationId xmlns:a16="http://schemas.microsoft.com/office/drawing/2014/main" id="{D5D46C2D-8F5C-EF98-BDA3-2448BE748FEB}"/>
              </a:ext>
            </a:extLst>
          </p:cNvPr>
          <p:cNvSpPr txBox="1"/>
          <p:nvPr/>
        </p:nvSpPr>
        <p:spPr>
          <a:xfrm>
            <a:off x="857251" y="881998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3600" dirty="0">
                <a:latin typeface="+mj-ea"/>
                <a:ea typeface="+mj-ea"/>
              </a:rPr>
              <a:t>台灣智慧化工與節能實例</a:t>
            </a:r>
          </a:p>
        </p:txBody>
      </p:sp>
      <p:sp>
        <p:nvSpPr>
          <p:cNvPr id="11" name="Google Shape;109;p15">
            <a:extLst>
              <a:ext uri="{FF2B5EF4-FFF2-40B4-BE49-F238E27FC236}">
                <a16:creationId xmlns:a16="http://schemas.microsoft.com/office/drawing/2014/main" id="{791F5B83-FD19-4B41-B3DD-604A3889C1B7}"/>
              </a:ext>
            </a:extLst>
          </p:cNvPr>
          <p:cNvSpPr txBox="1"/>
          <p:nvPr/>
        </p:nvSpPr>
        <p:spPr>
          <a:xfrm>
            <a:off x="857251" y="3292034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sz="3600" dirty="0">
                <a:latin typeface="+mj-ea"/>
                <a:ea typeface="+mj-ea"/>
              </a:rPr>
              <a:t>學術與實務雙重驗證</a:t>
            </a:r>
          </a:p>
        </p:txBody>
      </p:sp>
      <p:sp>
        <p:nvSpPr>
          <p:cNvPr id="12" name="Google Shape;103;p15">
            <a:extLst>
              <a:ext uri="{FF2B5EF4-FFF2-40B4-BE49-F238E27FC236}">
                <a16:creationId xmlns:a16="http://schemas.microsoft.com/office/drawing/2014/main" id="{1F88542B-62F9-43D5-B15B-86AB6ADB9BA8}"/>
              </a:ext>
            </a:extLst>
          </p:cNvPr>
          <p:cNvSpPr txBox="1"/>
          <p:nvPr/>
        </p:nvSpPr>
        <p:spPr>
          <a:xfrm>
            <a:off x="857251" y="4460197"/>
            <a:ext cx="1102052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dirty="0">
                <a:latin typeface="+mn-lt"/>
                <a:ea typeface="+mn-ea"/>
              </a:rPr>
              <a:t>在學術層面，</a:t>
            </a:r>
            <a:r>
              <a:rPr lang="en-US" altLang="zh-TW" dirty="0">
                <a:latin typeface="+mn-lt"/>
                <a:ea typeface="+mn-ea"/>
              </a:rPr>
              <a:t>2025 </a:t>
            </a:r>
            <a:r>
              <a:rPr lang="zh-TW" altLang="en-US" dirty="0">
                <a:latin typeface="+mn-lt"/>
                <a:ea typeface="+mn-ea"/>
              </a:rPr>
              <a:t>年發表的動態資料驅動最佳化（</a:t>
            </a:r>
            <a:r>
              <a:rPr lang="en-US" altLang="zh-TW" dirty="0">
                <a:latin typeface="+mn-lt"/>
                <a:ea typeface="+mn-ea"/>
              </a:rPr>
              <a:t>D‑RTO</a:t>
            </a:r>
            <a:r>
              <a:rPr lang="zh-TW" altLang="en-US" dirty="0">
                <a:latin typeface="+mn-lt"/>
                <a:ea typeface="+mn-ea"/>
              </a:rPr>
              <a:t>）研究，以 </a:t>
            </a:r>
            <a:r>
              <a:rPr lang="en-US" altLang="zh-TW" dirty="0">
                <a:latin typeface="+mn-lt"/>
                <a:ea typeface="+mn-ea"/>
              </a:rPr>
              <a:t>Tennessee Eastman </a:t>
            </a:r>
            <a:r>
              <a:rPr lang="zh-TW" altLang="en-US" dirty="0">
                <a:latin typeface="+mn-lt"/>
                <a:ea typeface="+mn-ea"/>
              </a:rPr>
              <a:t>標準製程為模擬環境，證明 </a:t>
            </a:r>
            <a:r>
              <a:rPr lang="en-US" altLang="zh-TW" dirty="0">
                <a:latin typeface="+mn-lt"/>
                <a:ea typeface="+mn-ea"/>
              </a:rPr>
              <a:t>AI </a:t>
            </a:r>
            <a:r>
              <a:rPr lang="zh-TW" altLang="en-US" dirty="0">
                <a:latin typeface="+mn-lt"/>
                <a:ea typeface="+mn-ea"/>
              </a:rPr>
              <a:t>可根據歷史數據直接導出製程最適操作策略，提升系統穩定性與經濟效益（</a:t>
            </a:r>
            <a:r>
              <a:rPr lang="en-US" altLang="zh-TW" dirty="0">
                <a:latin typeface="+mn-lt"/>
                <a:ea typeface="+mn-ea"/>
              </a:rPr>
              <a:t>Nature </a:t>
            </a:r>
            <a:r>
              <a:rPr lang="zh-TW" altLang="en-US" dirty="0">
                <a:latin typeface="+mn-lt"/>
                <a:ea typeface="+mn-ea"/>
              </a:rPr>
              <a:t>子期刊，</a:t>
            </a:r>
            <a:r>
              <a:rPr lang="en-US" altLang="zh-TW" dirty="0">
                <a:latin typeface="+mn-lt"/>
                <a:ea typeface="+mn-ea"/>
              </a:rPr>
              <a:t>2025</a:t>
            </a:r>
            <a:r>
              <a:rPr lang="zh-TW" altLang="en-US" dirty="0">
                <a:latin typeface="+mn-lt"/>
                <a:ea typeface="+mn-ea"/>
              </a:rPr>
              <a:t>）。 此外，歐洲與美國的案例顯示，透過大數據平台整合即時警報與資料視覺化，可將設備停機減少約 </a:t>
            </a:r>
            <a:r>
              <a:rPr lang="en-US" altLang="zh-TW" dirty="0">
                <a:latin typeface="+mn-lt"/>
                <a:ea typeface="+mn-ea"/>
              </a:rPr>
              <a:t>20</a:t>
            </a:r>
            <a:r>
              <a:rPr lang="zh-TW" altLang="en-US" dirty="0">
                <a:latin typeface="+mn-lt"/>
                <a:ea typeface="+mn-ea"/>
              </a:rPr>
              <a:t>％，並降低維護成本（</a:t>
            </a:r>
            <a:r>
              <a:rPr lang="en-US" altLang="zh-TW" dirty="0" err="1">
                <a:latin typeface="+mn-lt"/>
                <a:ea typeface="+mn-ea"/>
              </a:rPr>
              <a:t>Intelecy</a:t>
            </a:r>
            <a:r>
              <a:rPr lang="zh-TW" altLang="en-US" dirty="0">
                <a:latin typeface="+mn-lt"/>
                <a:ea typeface="+mn-ea"/>
              </a:rPr>
              <a:t>，</a:t>
            </a:r>
            <a:r>
              <a:rPr lang="en-US" altLang="zh-TW" dirty="0">
                <a:latin typeface="+mn-lt"/>
                <a:ea typeface="+mn-ea"/>
              </a:rPr>
              <a:t>2024</a:t>
            </a:r>
            <a:r>
              <a:rPr lang="zh-TW" altLang="en-US" dirty="0">
                <a:latin typeface="+mn-lt"/>
                <a:ea typeface="+mn-ea"/>
              </a:rPr>
              <a:t>）。 上述研究與實務共同顯示，智慧化工廠的製程優化已具備學術與產業的雙重支持，可作為本報告中效益估算與架構設計的重要參考。</a:t>
            </a:r>
            <a:br>
              <a:rPr lang="zh-TW" altLang="en-US" dirty="0">
                <a:latin typeface="+mn-lt"/>
                <a:ea typeface="+mn-ea"/>
              </a:rPr>
            </a:br>
            <a:endParaRPr sz="1600" dirty="0">
              <a:latin typeface="+mn-lt"/>
              <a:ea typeface="+mn-ea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5BA5065-0AC3-4B8F-97D1-2A5398257789}"/>
              </a:ext>
            </a:extLst>
          </p:cNvPr>
          <p:cNvCxnSpPr/>
          <p:nvPr/>
        </p:nvCxnSpPr>
        <p:spPr>
          <a:xfrm>
            <a:off x="575035" y="5854045"/>
            <a:ext cx="113027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B264FB-ADB0-4A7C-B410-4524291D71E0}"/>
              </a:ext>
            </a:extLst>
          </p:cNvPr>
          <p:cNvSpPr txBox="1"/>
          <p:nvPr/>
        </p:nvSpPr>
        <p:spPr>
          <a:xfrm>
            <a:off x="575035" y="5936137"/>
            <a:ext cx="37401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《</a:t>
            </a:r>
            <a:r>
              <a:rPr lang="zh-TW" altLang="en-US" sz="1000" dirty="0"/>
              <a:t>工業材料雜誌</a:t>
            </a:r>
            <a:r>
              <a:rPr lang="en-US" altLang="zh-TW" sz="1000" dirty="0"/>
              <a:t>》</a:t>
            </a:r>
            <a:r>
              <a:rPr lang="zh-TW" altLang="en-US" sz="1000" dirty="0"/>
              <a:t>，</a:t>
            </a:r>
            <a:r>
              <a:rPr lang="en-US" altLang="zh-TW" sz="1000" dirty="0"/>
              <a:t>2025, Nature </a:t>
            </a:r>
            <a:r>
              <a:rPr lang="zh-TW" altLang="en-US" sz="1000" dirty="0"/>
              <a:t>子期刊，</a:t>
            </a:r>
            <a:r>
              <a:rPr lang="en-US" altLang="zh-TW" sz="1000" dirty="0"/>
              <a:t>2025</a:t>
            </a:r>
            <a:r>
              <a:rPr lang="zh-TW" altLang="en-US" sz="1000" dirty="0"/>
              <a:t>；</a:t>
            </a:r>
            <a:r>
              <a:rPr lang="en-US" altLang="zh-TW" sz="1000" dirty="0" err="1"/>
              <a:t>Intelecy</a:t>
            </a:r>
            <a:r>
              <a:rPr lang="zh-TW" altLang="en-US" sz="1000" dirty="0"/>
              <a:t>，</a:t>
            </a:r>
            <a:r>
              <a:rPr lang="en-US" altLang="zh-TW" sz="1000" dirty="0"/>
              <a:t>2024</a:t>
            </a:r>
            <a:endParaRPr lang="zh-TW" altLang="en-US" sz="10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971F1EF-9EDD-3956-F23F-FA4962F4A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11085"/>
              </p:ext>
            </p:extLst>
          </p:nvPr>
        </p:nvGraphicFramePr>
        <p:xfrm>
          <a:off x="0" y="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13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359C0F9-9CAB-EE02-9E01-DAC5A5B6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Google Shape;115;p16">
            <a:extLst>
              <a:ext uri="{FF2B5EF4-FFF2-40B4-BE49-F238E27FC236}">
                <a16:creationId xmlns:a16="http://schemas.microsoft.com/office/drawing/2014/main" id="{AAC0659B-C334-392B-0C49-7CE9F96D7A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3016" y="2632710"/>
            <a:ext cx="34290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6;p16">
            <a:extLst>
              <a:ext uri="{FF2B5EF4-FFF2-40B4-BE49-F238E27FC236}">
                <a16:creationId xmlns:a16="http://schemas.microsoft.com/office/drawing/2014/main" id="{0C7F63C9-3F67-4AC9-4805-D61B4E85B4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03016" y="2632710"/>
            <a:ext cx="34290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7;p16">
            <a:extLst>
              <a:ext uri="{FF2B5EF4-FFF2-40B4-BE49-F238E27FC236}">
                <a16:creationId xmlns:a16="http://schemas.microsoft.com/office/drawing/2014/main" id="{0D601DA0-15DA-AEC1-F305-A6C819AD89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13016" y="2632710"/>
            <a:ext cx="34290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8;p16">
            <a:extLst>
              <a:ext uri="{FF2B5EF4-FFF2-40B4-BE49-F238E27FC236}">
                <a16:creationId xmlns:a16="http://schemas.microsoft.com/office/drawing/2014/main" id="{15F90536-9FD7-2A85-098C-DA9D6AA0DD94}"/>
              </a:ext>
            </a:extLst>
          </p:cNvPr>
          <p:cNvSpPr txBox="1"/>
          <p:nvPr/>
        </p:nvSpPr>
        <p:spPr>
          <a:xfrm>
            <a:off x="1747446" y="3804285"/>
            <a:ext cx="112014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+mn-ea"/>
                <a:ea typeface="+mn-ea"/>
                <a:cs typeface="Merriweather"/>
                <a:sym typeface="Merriweather"/>
              </a:rPr>
              <a:t>提高產能</a:t>
            </a:r>
            <a:endParaRPr>
              <a:latin typeface="+mn-ea"/>
              <a:ea typeface="+mn-ea"/>
            </a:endParaRPr>
          </a:p>
        </p:txBody>
      </p:sp>
      <p:sp>
        <p:nvSpPr>
          <p:cNvPr id="11" name="Google Shape;119;p16">
            <a:extLst>
              <a:ext uri="{FF2B5EF4-FFF2-40B4-BE49-F238E27FC236}">
                <a16:creationId xmlns:a16="http://schemas.microsoft.com/office/drawing/2014/main" id="{D48F7E23-16F8-8242-6834-A2E864F8BD4A}"/>
              </a:ext>
            </a:extLst>
          </p:cNvPr>
          <p:cNvSpPr txBox="1"/>
          <p:nvPr/>
        </p:nvSpPr>
        <p:spPr>
          <a:xfrm>
            <a:off x="878766" y="4499610"/>
            <a:ext cx="2857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+mn-ea"/>
                <a:ea typeface="+mn-ea"/>
                <a:cs typeface="DM Sans"/>
                <a:sym typeface="DM Sans"/>
              </a:rPr>
              <a:t>透過 AI 模型預測最佳操作參數，減少生產過程中的變異，實現良率與產能的雙重提升。</a:t>
            </a:r>
            <a:endParaRPr>
              <a:latin typeface="+mn-ea"/>
              <a:ea typeface="+mn-ea"/>
            </a:endParaRPr>
          </a:p>
        </p:txBody>
      </p:sp>
      <p:sp>
        <p:nvSpPr>
          <p:cNvPr id="12" name="Google Shape;120;p16">
            <a:extLst>
              <a:ext uri="{FF2B5EF4-FFF2-40B4-BE49-F238E27FC236}">
                <a16:creationId xmlns:a16="http://schemas.microsoft.com/office/drawing/2014/main" id="{AD32C667-7266-EE3B-A029-3CE6D64D83A2}"/>
              </a:ext>
            </a:extLst>
          </p:cNvPr>
          <p:cNvSpPr txBox="1"/>
          <p:nvPr/>
        </p:nvSpPr>
        <p:spPr>
          <a:xfrm>
            <a:off x="5557446" y="3804285"/>
            <a:ext cx="112014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+mn-ea"/>
                <a:ea typeface="+mn-ea"/>
                <a:cs typeface="Merriweather"/>
                <a:sym typeface="Merriweather"/>
              </a:rPr>
              <a:t>降低能耗</a:t>
            </a:r>
            <a:endParaRPr>
              <a:latin typeface="+mn-ea"/>
              <a:ea typeface="+mn-ea"/>
            </a:endParaRPr>
          </a:p>
        </p:txBody>
      </p:sp>
      <p:sp>
        <p:nvSpPr>
          <p:cNvPr id="13" name="Google Shape;121;p16">
            <a:extLst>
              <a:ext uri="{FF2B5EF4-FFF2-40B4-BE49-F238E27FC236}">
                <a16:creationId xmlns:a16="http://schemas.microsoft.com/office/drawing/2014/main" id="{6EC50F58-3FAA-93E8-B4BA-A5603CF51ED2}"/>
              </a:ext>
            </a:extLst>
          </p:cNvPr>
          <p:cNvSpPr txBox="1"/>
          <p:nvPr/>
        </p:nvSpPr>
        <p:spPr>
          <a:xfrm>
            <a:off x="4688766" y="4499610"/>
            <a:ext cx="2857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+mn-ea"/>
                <a:ea typeface="+mn-ea"/>
                <a:cs typeface="DM Sans"/>
                <a:sym typeface="DM Sans"/>
              </a:rPr>
              <a:t>精準控制加熱與冷卻系統，優化整體能源分配，達成節能減碳與企業永續發展指標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+mn-ea"/>
                <a:ea typeface="+mn-ea"/>
                <a:cs typeface="DM Sans"/>
                <a:sym typeface="DM Sans"/>
              </a:rPr>
              <a:t>。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4" name="Google Shape;122;p16">
            <a:extLst>
              <a:ext uri="{FF2B5EF4-FFF2-40B4-BE49-F238E27FC236}">
                <a16:creationId xmlns:a16="http://schemas.microsoft.com/office/drawing/2014/main" id="{5838FFC8-1D2D-03FF-D1D1-3E8405D81392}"/>
              </a:ext>
            </a:extLst>
          </p:cNvPr>
          <p:cNvSpPr txBox="1"/>
          <p:nvPr/>
        </p:nvSpPr>
        <p:spPr>
          <a:xfrm>
            <a:off x="9367446" y="3804285"/>
            <a:ext cx="112014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0DF"/>
                </a:solidFill>
                <a:latin typeface="+mn-ea"/>
                <a:ea typeface="+mn-ea"/>
                <a:cs typeface="Merriweather"/>
                <a:sym typeface="Merriweather"/>
              </a:rPr>
              <a:t>確保工安</a:t>
            </a:r>
            <a:endParaRPr>
              <a:latin typeface="+mn-ea"/>
              <a:ea typeface="+mn-ea"/>
            </a:endParaRPr>
          </a:p>
        </p:txBody>
      </p:sp>
      <p:sp>
        <p:nvSpPr>
          <p:cNvPr id="15" name="Google Shape;123;p16">
            <a:extLst>
              <a:ext uri="{FF2B5EF4-FFF2-40B4-BE49-F238E27FC236}">
                <a16:creationId xmlns:a16="http://schemas.microsoft.com/office/drawing/2014/main" id="{64692AAF-294D-005D-8C97-C3D38CFEBD3D}"/>
              </a:ext>
            </a:extLst>
          </p:cNvPr>
          <p:cNvSpPr txBox="1"/>
          <p:nvPr/>
        </p:nvSpPr>
        <p:spPr>
          <a:xfrm>
            <a:off x="8498766" y="4499610"/>
            <a:ext cx="28575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+mn-ea"/>
                <a:ea typeface="+mn-ea"/>
                <a:cs typeface="DM Sans"/>
                <a:sym typeface="DM Sans"/>
              </a:rPr>
              <a:t>建立設備預測性維護機制與異常即時警報系統，防範未然，全面保障人員與廠區安全。</a:t>
            </a:r>
            <a:endParaRPr>
              <a:latin typeface="+mn-ea"/>
              <a:ea typeface="+mn-ea"/>
            </a:endParaRPr>
          </a:p>
        </p:txBody>
      </p:sp>
      <p:pic>
        <p:nvPicPr>
          <p:cNvPr id="16" name="Google Shape;124;p16">
            <a:extLst>
              <a:ext uri="{FF2B5EF4-FFF2-40B4-BE49-F238E27FC236}">
                <a16:creationId xmlns:a16="http://schemas.microsoft.com/office/drawing/2014/main" id="{92B1B1D9-FD2F-FCD2-3A94-3D6EE754B6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8916" y="30708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5;p16">
            <a:extLst>
              <a:ext uri="{FF2B5EF4-FFF2-40B4-BE49-F238E27FC236}">
                <a16:creationId xmlns:a16="http://schemas.microsoft.com/office/drawing/2014/main" id="{B88F746B-BA80-5CF0-487D-2C66661A84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8916" y="30708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6;p16">
            <a:extLst>
              <a:ext uri="{FF2B5EF4-FFF2-40B4-BE49-F238E27FC236}">
                <a16:creationId xmlns:a16="http://schemas.microsoft.com/office/drawing/2014/main" id="{38126478-A56B-2D43-BFB2-69079B8D492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98916" y="3070860"/>
            <a:ext cx="457200" cy="45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4B93E5B-1646-C98A-7C9E-83A301290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146800"/>
              </p:ext>
            </p:extLst>
          </p:nvPr>
        </p:nvGraphicFramePr>
        <p:xfrm>
          <a:off x="0" y="37084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背景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/>
                          <a:ea typeface="標楷體"/>
                        </a:rPr>
                        <a:t>現有問題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研究目的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21" name="Google Shape;127;p16">
            <a:extLst>
              <a:ext uri="{FF2B5EF4-FFF2-40B4-BE49-F238E27FC236}">
                <a16:creationId xmlns:a16="http://schemas.microsoft.com/office/drawing/2014/main" id="{F26A7286-898D-96D0-66BF-F1DE7B44D822}"/>
              </a:ext>
            </a:extLst>
          </p:cNvPr>
          <p:cNvSpPr txBox="1"/>
          <p:nvPr/>
        </p:nvSpPr>
        <p:spPr>
          <a:xfrm>
            <a:off x="563334" y="1011555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tx1"/>
                </a:solidFill>
                <a:latin typeface="+mj-ea"/>
                <a:ea typeface="+mj-ea"/>
                <a:cs typeface="Merriweather"/>
                <a:sym typeface="Merriweather"/>
              </a:rPr>
              <a:t>智慧轉型的三大目標</a:t>
            </a:r>
            <a:endParaRPr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E299A20-F22D-75CC-59DE-9ECDCC3EC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157756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95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BB92E-FA78-11AE-C205-E9E38D02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EB7007D-D217-B0A2-71C5-4D4096C06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40479"/>
              </p:ext>
            </p:extLst>
          </p:nvPr>
        </p:nvGraphicFramePr>
        <p:xfrm>
          <a:off x="0" y="37084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</a:rPr>
                        <a:t>背景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現有問題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研究目的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17C89C-898F-0FB3-8021-A3837380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7" name="Google Shape;174;p21">
            <a:extLst>
              <a:ext uri="{FF2B5EF4-FFF2-40B4-BE49-F238E27FC236}">
                <a16:creationId xmlns:a16="http://schemas.microsoft.com/office/drawing/2014/main" id="{5420767D-D861-F4C4-519F-676AB2EB59EE}"/>
              </a:ext>
            </a:extLst>
          </p:cNvPr>
          <p:cNvSpPr txBox="1"/>
          <p:nvPr/>
        </p:nvSpPr>
        <p:spPr>
          <a:xfrm>
            <a:off x="874002" y="1711698"/>
            <a:ext cx="50006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數據品質與標註困難：</a:t>
            </a:r>
            <a:r>
              <a:rPr lang="en-US" sz="1600" b="0" i="0" u="none" strike="noStrike" cap="none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 工廠感測器常伴隨大量雜訊或缺失值，且極度缺乏有效的異常狀況標註，嚴重影響機器學習模型的訓練成效。</a:t>
            </a:r>
            <a:endParaRPr sz="1600">
              <a:latin typeface="+mn-ea"/>
              <a:ea typeface="+mn-ea"/>
            </a:endParaRPr>
          </a:p>
        </p:txBody>
      </p:sp>
      <p:sp>
        <p:nvSpPr>
          <p:cNvPr id="8" name="Google Shape;175;p21">
            <a:extLst>
              <a:ext uri="{FF2B5EF4-FFF2-40B4-BE49-F238E27FC236}">
                <a16:creationId xmlns:a16="http://schemas.microsoft.com/office/drawing/2014/main" id="{F516371F-7FCB-56BD-BBCD-AF5B9C2E079C}"/>
              </a:ext>
            </a:extLst>
          </p:cNvPr>
          <p:cNvSpPr txBox="1"/>
          <p:nvPr/>
        </p:nvSpPr>
        <p:spPr>
          <a:xfrm>
            <a:off x="874002" y="2864223"/>
            <a:ext cx="50006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動態性與泛化能力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：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設備老化或催化劑失活會隨著時間改變系統動態，基於靜態歷史數據訓練的模型極易出現預測漂移現象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。</a:t>
            </a:r>
            <a:endParaRPr sz="1600" dirty="0">
              <a:latin typeface="+mn-ea"/>
              <a:ea typeface="+mn-ea"/>
            </a:endParaRPr>
          </a:p>
        </p:txBody>
      </p:sp>
      <p:sp>
        <p:nvSpPr>
          <p:cNvPr id="9" name="Google Shape;176;p21">
            <a:extLst>
              <a:ext uri="{FF2B5EF4-FFF2-40B4-BE49-F238E27FC236}">
                <a16:creationId xmlns:a16="http://schemas.microsoft.com/office/drawing/2014/main" id="{874F9282-B5BF-FBF1-B164-7581667AA242}"/>
              </a:ext>
            </a:extLst>
          </p:cNvPr>
          <p:cNvSpPr txBox="1"/>
          <p:nvPr/>
        </p:nvSpPr>
        <p:spPr>
          <a:xfrm>
            <a:off x="874002" y="4016748"/>
            <a:ext cx="50006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部署與即時性挑戰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：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複雜的深度學習模型通常運算量龐大，難以直接輕量化並整合至現有的</a:t>
            </a:r>
            <a:r>
              <a:rPr lang="zh-TW" altLang="en-US" sz="1600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系統</a:t>
            </a:r>
            <a:r>
              <a:rPr lang="en-US" sz="1600" b="0" i="0" u="none" strike="noStrike" cap="none" dirty="0" err="1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中進行即時運算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+mn-ea"/>
                <a:ea typeface="+mn-ea"/>
                <a:cs typeface="DM Sans"/>
                <a:sym typeface="DM Sans"/>
              </a:rPr>
              <a:t>。</a:t>
            </a:r>
            <a:endParaRPr sz="1600" dirty="0">
              <a:latin typeface="+mn-ea"/>
              <a:ea typeface="+mn-ea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22C21D9-219B-8213-34F9-0F5E942E6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729" y="1892673"/>
            <a:ext cx="4429125" cy="285750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1276B5D-33D4-EA59-A9ED-60560118F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3989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408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6AA3AE-AA3C-E0AA-59A8-2B6295B0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Google Shape;134;p17">
            <a:extLst>
              <a:ext uri="{FF2B5EF4-FFF2-40B4-BE49-F238E27FC236}">
                <a16:creationId xmlns:a16="http://schemas.microsoft.com/office/drawing/2014/main" id="{576646BA-C49E-D5D8-CE9B-AB4C1C435C22}"/>
              </a:ext>
            </a:extLst>
          </p:cNvPr>
          <p:cNvSpPr txBox="1"/>
          <p:nvPr/>
        </p:nvSpPr>
        <p:spPr>
          <a:xfrm>
            <a:off x="286996" y="931545"/>
            <a:ext cx="555069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tx1"/>
                </a:solidFill>
                <a:latin typeface="+mj-ea"/>
                <a:ea typeface="+mj-ea"/>
                <a:cs typeface="Merriweather"/>
                <a:sym typeface="Merriweather"/>
              </a:rPr>
              <a:t>數據驅動的全面優化</a:t>
            </a:r>
            <a:endParaRPr sz="3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216A000-A5B1-EF5B-8E94-1B2545D596D9}"/>
              </a:ext>
            </a:extLst>
          </p:cNvPr>
          <p:cNvSpPr txBox="1"/>
          <p:nvPr/>
        </p:nvSpPr>
        <p:spPr>
          <a:xfrm>
            <a:off x="13609" y="5649456"/>
            <a:ext cx="12178391" cy="43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latin typeface="+mn-ea"/>
                <a:cs typeface="DM Sans"/>
                <a:sym typeface="DM Sans"/>
              </a:rPr>
              <a:t>本研究旨在透過整合</a:t>
            </a:r>
            <a:r>
              <a:rPr lang="zh-TW" altLang="en-US" sz="1600" dirty="0">
                <a:latin typeface="+mn-ea"/>
                <a:cs typeface="DM Sans"/>
                <a:sym typeface="DM Sans"/>
              </a:rPr>
              <a:t>數位孿生</a:t>
            </a:r>
            <a:r>
              <a:rPr lang="zh-TW" altLang="en-US" sz="1600" b="0" i="0" u="none" strike="noStrike" cap="none" dirty="0">
                <a:latin typeface="+mn-ea"/>
                <a:cs typeface="DM Sans"/>
                <a:sym typeface="DM Sans"/>
              </a:rPr>
              <a:t>與</a:t>
            </a:r>
            <a:r>
              <a:rPr lang="zh-TW" altLang="en-US" sz="1600" dirty="0">
                <a:latin typeface="+mn-ea"/>
                <a:cs typeface="DM Sans"/>
                <a:sym typeface="DM Sans"/>
              </a:rPr>
              <a:t>深度強化學習</a:t>
            </a:r>
            <a:r>
              <a:rPr lang="zh-TW" altLang="en-US" sz="1600" b="0" i="0" u="none" strike="noStrike" cap="none" dirty="0">
                <a:latin typeface="+mn-ea"/>
                <a:cs typeface="DM Sans"/>
                <a:sym typeface="DM Sans"/>
              </a:rPr>
              <a:t>，為現代化工廠打造一套標準化的智慧解決方案。</a:t>
            </a:r>
            <a:endParaRPr lang="zh-TW" altLang="en-US" sz="1600" dirty="0">
              <a:latin typeface="+mn-ea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9E1B14D-8C75-41AA-E855-6F36C78AE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700" y="1804176"/>
            <a:ext cx="6355977" cy="3575237"/>
          </a:xfrm>
          <a:prstGeom prst="rect">
            <a:avLst/>
          </a:prstGeom>
        </p:spPr>
      </p:pic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5135FAF4-F738-A9F5-576E-24534DE19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8759"/>
              </p:ext>
            </p:extLst>
          </p:nvPr>
        </p:nvGraphicFramePr>
        <p:xfrm>
          <a:off x="0" y="37084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</a:rPr>
                        <a:t>背景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</a:rPr>
                        <a:t>現有問題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研究目的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ADA8A2-705B-EF4C-4D01-28790790F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3989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236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1717BD-FFCC-47B3-9BA7-7F4729EE2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4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F4BD971-199B-46A0-88D0-3FC7B73E5152}"/>
              </a:ext>
            </a:extLst>
          </p:cNvPr>
          <p:cNvSpPr txBox="1"/>
          <p:nvPr/>
        </p:nvSpPr>
        <p:spPr>
          <a:xfrm>
            <a:off x="3925887" y="2413073"/>
            <a:ext cx="1057092" cy="221599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38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2</a:t>
            </a:r>
            <a:endParaRPr lang="zh-CN" altLang="en-US" sz="1380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2" name="菱形 1"/>
          <p:cNvSpPr/>
          <p:nvPr/>
        </p:nvSpPr>
        <p:spPr>
          <a:xfrm>
            <a:off x="3199174" y="2199135"/>
            <a:ext cx="2643868" cy="2643868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5302611" y="1371821"/>
            <a:ext cx="4298496" cy="4298496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99687" y="2876239"/>
            <a:ext cx="3904343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TW" altLang="en-US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相關研究</a:t>
            </a:r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3429000"/>
            <a:ext cx="271171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11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en-US" altLang="zh-CN" sz="2400" dirty="0">
                <a:solidFill>
                  <a:srgbClr val="3B3838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Related Work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1FF329-DACD-4655-8B3E-E88AC1EAF593}"/>
              </a:ext>
            </a:extLst>
          </p:cNvPr>
          <p:cNvSpPr txBox="1"/>
          <p:nvPr/>
        </p:nvSpPr>
        <p:spPr>
          <a:xfrm>
            <a:off x="3685677" y="3391508"/>
            <a:ext cx="14700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000" b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PART 02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722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AB81A11-4B03-3033-C2D7-3600FDB16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064011"/>
              </p:ext>
            </p:extLst>
          </p:nvPr>
        </p:nvGraphicFramePr>
        <p:xfrm>
          <a:off x="0" y="37084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深度強化學習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/>
                          <a:ea typeface="標楷體"/>
                        </a:rPr>
                        <a:t>數位孿生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物理資訊神經網路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21D7FED-9B1F-3950-0E5D-243804ADFA85}"/>
              </a:ext>
            </a:extLst>
          </p:cNvPr>
          <p:cNvSpPr txBox="1"/>
          <p:nvPr/>
        </p:nvSpPr>
        <p:spPr>
          <a:xfrm>
            <a:off x="270783" y="1843088"/>
            <a:ext cx="5935450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2400" b="1" dirty="0"/>
              <a:t>1.</a:t>
            </a:r>
            <a:r>
              <a:rPr lang="zh-TW" altLang="en-US" sz="2400" b="1" dirty="0"/>
              <a:t>核心概念</a:t>
            </a:r>
            <a:endParaRPr lang="zh-TW" altLang="en-US" sz="2400" dirty="0"/>
          </a:p>
          <a:p>
            <a:r>
              <a:rPr lang="zh-TW" altLang="en-US" b="1" dirty="0"/>
              <a:t>．深度神經網路</a:t>
            </a:r>
            <a:r>
              <a:rPr lang="zh-TW" altLang="en-US" dirty="0"/>
              <a:t>：處理高維度輸入（如影像、序列資料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．強化學習框架</a:t>
            </a:r>
            <a:r>
              <a:rPr lang="zh-TW" altLang="en-US" dirty="0"/>
              <a:t>：提供決策與回饋機制。</a:t>
            </a:r>
          </a:p>
          <a:p>
            <a:r>
              <a:rPr lang="zh-TW" altLang="en-US" b="1" dirty="0"/>
              <a:t>．結果</a:t>
            </a:r>
            <a:r>
              <a:rPr lang="zh-TW" altLang="en-US" dirty="0"/>
              <a:t>：能在複雜環境中自動學習最佳策略。</a:t>
            </a:r>
            <a:endParaRPr lang="en-US" altLang="zh-TW" dirty="0"/>
          </a:p>
          <a:p>
            <a:r>
              <a:rPr lang="en-US" altLang="zh-TW" sz="2400" b="1" dirty="0"/>
              <a:t>2.</a:t>
            </a:r>
            <a:r>
              <a:rPr lang="zh-TW" altLang="en-US" sz="2400" b="1" dirty="0"/>
              <a:t>案例介紹</a:t>
            </a:r>
          </a:p>
          <a:p>
            <a:r>
              <a:rPr lang="zh-TW" altLang="en-US" b="1" dirty="0"/>
              <a:t>．研究背景</a:t>
            </a:r>
            <a:r>
              <a:rPr lang="zh-TW" altLang="en-US" dirty="0"/>
              <a:t>：傳統 </a:t>
            </a:r>
            <a:r>
              <a:rPr lang="en-US" altLang="zh-TW" dirty="0"/>
              <a:t>CO₂ </a:t>
            </a:r>
            <a:r>
              <a:rPr lang="zh-TW" altLang="en-US" dirty="0"/>
              <a:t>吸收</a:t>
            </a:r>
            <a:r>
              <a:rPr lang="en-US" altLang="zh-TW" dirty="0"/>
              <a:t>–</a:t>
            </a:r>
            <a:r>
              <a:rPr lang="zh-TW" altLang="en-US" dirty="0"/>
              <a:t>脫附流程（如胺液吸收）設計複雜，操作條件多，且成本高。</a:t>
            </a:r>
          </a:p>
          <a:p>
            <a:r>
              <a:rPr lang="zh-TW" altLang="en-US" b="1" dirty="0"/>
              <a:t>．方法</a:t>
            </a:r>
            <a:r>
              <a:rPr lang="zh-TW" altLang="en-US" dirty="0"/>
              <a:t>：利用強化學習代理人（</a:t>
            </a:r>
            <a:r>
              <a:rPr lang="en-US" altLang="zh-TW" dirty="0"/>
              <a:t>agent</a:t>
            </a:r>
            <a:r>
              <a:rPr lang="zh-TW" altLang="en-US" dirty="0"/>
              <a:t>）在模擬環境中逐步調整設計與操作變數（如塔板數、溶劑流量、壓力、溫度）。</a:t>
            </a:r>
          </a:p>
          <a:p>
            <a:r>
              <a:rPr lang="zh-TW" altLang="en-US" b="1" dirty="0"/>
              <a:t>．目標</a:t>
            </a:r>
            <a:r>
              <a:rPr lang="zh-TW" altLang="en-US" dirty="0"/>
              <a:t>：最小化捕捉成本，同時維持分離效率與純度。</a:t>
            </a:r>
          </a:p>
          <a:p>
            <a:r>
              <a:rPr lang="zh-TW" altLang="en-US" b="1" dirty="0"/>
              <a:t>．成果</a:t>
            </a:r>
            <a:r>
              <a:rPr lang="zh-TW" altLang="en-US" dirty="0"/>
              <a:t>：</a:t>
            </a:r>
            <a:r>
              <a:rPr lang="en-US" altLang="zh-TW" dirty="0"/>
              <a:t>RL </a:t>
            </a:r>
            <a:r>
              <a:rPr lang="zh-TW" altLang="en-US" dirty="0"/>
              <a:t>能透過迭代學習找到近似最佳的設計方案。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A73D73-E91D-5A6F-A854-08A63D27A3B3}"/>
              </a:ext>
            </a:extLst>
          </p:cNvPr>
          <p:cNvSpPr txBox="1"/>
          <p:nvPr/>
        </p:nvSpPr>
        <p:spPr>
          <a:xfrm>
            <a:off x="160549" y="5869299"/>
            <a:ext cx="118709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1200" dirty="0"/>
              <a:t>Gao, Q., &amp; </a:t>
            </a:r>
            <a:r>
              <a:rPr lang="en-US" altLang="zh-TW" sz="1200" dirty="0" err="1"/>
              <a:t>Schweidtmann</a:t>
            </a:r>
            <a:r>
              <a:rPr lang="en-US" altLang="zh-TW" sz="1200" dirty="0"/>
              <a:t>, A. M. (2024). Deep reinforcement learning for process design: Review and perspective. </a:t>
            </a:r>
            <a:r>
              <a:rPr lang="en-US" altLang="zh-TW" sz="1200" i="1" dirty="0"/>
              <a:t>Current Opinion in Chemical Engineering, 44,</a:t>
            </a:r>
            <a:r>
              <a:rPr lang="en-US" altLang="zh-TW" sz="1200" dirty="0"/>
              <a:t> 101012.</a:t>
            </a:r>
            <a:endParaRPr 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7695DA-EE4C-8D57-C7D3-8F39DA00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D9BAAA0-C529-AE13-2B53-D2E0D59AD67C}"/>
              </a:ext>
            </a:extLst>
          </p:cNvPr>
          <p:cNvSpPr txBox="1"/>
          <p:nvPr/>
        </p:nvSpPr>
        <p:spPr>
          <a:xfrm>
            <a:off x="270783" y="1051827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3600" b="1" dirty="0">
                <a:latin typeface="+mj-ea"/>
                <a:ea typeface="+mj-ea"/>
              </a:rPr>
              <a:t>深度強化學習在製程設計的應用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D3C88B4-8386-1BB5-9636-4687478C0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233" y="1843088"/>
            <a:ext cx="5455915" cy="3462573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0ED92B9-16D3-957F-9B18-F9C3FBC44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896888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627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170A-03F3-A7FE-07D6-B3E69B852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374A8D32-5AA1-927A-7510-A12CA02BD4CE}"/>
              </a:ext>
            </a:extLst>
          </p:cNvPr>
          <p:cNvSpPr txBox="1"/>
          <p:nvPr/>
        </p:nvSpPr>
        <p:spPr>
          <a:xfrm>
            <a:off x="292554" y="5808095"/>
            <a:ext cx="118709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1200" dirty="0"/>
              <a:t>Rebello, C. M., &amp; Nogueira, I. B. R. (2025). Digital twins in chemical engineering: An integrated framework for identification, implementation, online learning, and uncertainty assessment. </a:t>
            </a:r>
            <a:r>
              <a:rPr lang="en-US" altLang="zh-TW" sz="1200" i="1" dirty="0"/>
              <a:t>Computers and Chemical Engineering, 200,</a:t>
            </a:r>
            <a:r>
              <a:rPr lang="en-US" altLang="zh-TW" sz="1200" dirty="0"/>
              <a:t> 109178</a:t>
            </a:r>
            <a:endParaRPr lang="zh-TW" sz="1200" dirty="0">
              <a:latin typeface="Arial"/>
              <a:cs typeface="Arial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6362C9-2CE4-725C-4CD3-D8A931E2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12</a:t>
            </a:fld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6801E82-AA8C-7870-A141-687160B9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17707"/>
              </p:ext>
            </p:extLst>
          </p:nvPr>
        </p:nvGraphicFramePr>
        <p:xfrm>
          <a:off x="0" y="370310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</a:rPr>
                        <a:t>深度強化學習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數位孿生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物理資訊神經網路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3" name="AutoShape 2" descr="Digital twin in the chemical industry: A review - Mane - 2024 - Digital  Twins and Applications - Wiley Online Library">
            <a:extLst>
              <a:ext uri="{FF2B5EF4-FFF2-40B4-BE49-F238E27FC236}">
                <a16:creationId xmlns:a16="http://schemas.microsoft.com/office/drawing/2014/main" id="{E855F5C7-E09E-56B9-B114-3788579C02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05426" y="406411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448E64A-A7EF-1945-446A-510712AC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426" y="1136812"/>
            <a:ext cx="4001845" cy="387020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D7655D5-3AEE-4525-A294-C890A0CB47BC}"/>
              </a:ext>
            </a:extLst>
          </p:cNvPr>
          <p:cNvSpPr txBox="1"/>
          <p:nvPr/>
        </p:nvSpPr>
        <p:spPr>
          <a:xfrm>
            <a:off x="292554" y="926794"/>
            <a:ext cx="6287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latin typeface="+mj-ea"/>
                <a:ea typeface="+mj-ea"/>
              </a:rPr>
              <a:t>數位孿生在化工產業的應用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8582375-E796-F37C-AB54-0005BB89365B}"/>
              </a:ext>
            </a:extLst>
          </p:cNvPr>
          <p:cNvSpPr txBox="1"/>
          <p:nvPr/>
        </p:nvSpPr>
        <p:spPr>
          <a:xfrm>
            <a:off x="292554" y="1712437"/>
            <a:ext cx="6115722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400" b="1" dirty="0"/>
              <a:t>1.</a:t>
            </a:r>
            <a:r>
              <a:rPr lang="zh-TW" altLang="en-US" sz="2400" b="1" dirty="0"/>
              <a:t>核心概念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effectLst/>
              </a:rPr>
              <a:t>數位孿生（</a:t>
            </a:r>
            <a:r>
              <a:rPr lang="en-US" altLang="zh-TW" b="1" dirty="0">
                <a:effectLst/>
              </a:rPr>
              <a:t>Digital Twin</a:t>
            </a:r>
            <a:r>
              <a:rPr lang="zh-TW" altLang="en-US" b="1" dirty="0">
                <a:effectLst/>
              </a:rPr>
              <a:t>）</a:t>
            </a:r>
            <a:r>
              <a:rPr lang="zh-TW" altLang="en-US" dirty="0">
                <a:effectLst/>
              </a:rPr>
              <a:t>：建立與實體設備或工廠相對應的虛擬模型，整合設備運轉、製程參數、歷史紀錄。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effectLst/>
              </a:rPr>
              <a:t>即時更新</a:t>
            </a:r>
            <a:r>
              <a:rPr lang="zh-TW" altLang="en-US" dirty="0">
                <a:effectLst/>
              </a:rPr>
              <a:t>：透過感測器與</a:t>
            </a:r>
            <a:r>
              <a:rPr lang="en-US" altLang="zh-TW" dirty="0">
                <a:effectLst/>
              </a:rPr>
              <a:t>AI</a:t>
            </a:r>
            <a:r>
              <a:rPr lang="zh-TW" altLang="en-US" dirty="0">
                <a:effectLst/>
              </a:rPr>
              <a:t>演算法，模型可即時反映現場狀態，進行模擬與預測。</a:t>
            </a:r>
            <a:endParaRPr lang="zh-TW" altLang="en-US" dirty="0"/>
          </a:p>
          <a:p>
            <a:pPr>
              <a:buNone/>
            </a:pPr>
            <a:r>
              <a:rPr lang="en-US" altLang="zh-TW" sz="2400" b="1" dirty="0"/>
              <a:t>2.</a:t>
            </a:r>
            <a:r>
              <a:rPr lang="zh-TW" altLang="en-US" sz="2400" b="1" dirty="0"/>
              <a:t>主要效益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effectLst/>
              </a:rPr>
              <a:t>設備狀態監測與異常預警</a:t>
            </a:r>
            <a:r>
              <a:rPr lang="zh-TW" altLang="en-US" dirty="0">
                <a:effectLst/>
              </a:rPr>
              <a:t>：提前發現異常趨勢，降低突發故障風險。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effectLst/>
              </a:rPr>
              <a:t>製程模擬與操作優化</a:t>
            </a:r>
            <a:r>
              <a:rPr lang="zh-TW" altLang="en-US" dirty="0">
                <a:effectLst/>
              </a:rPr>
              <a:t>：在虛擬環境測試不同條件，提升產品品質與效率。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effectLst/>
              </a:rPr>
              <a:t>降低操作風險</a:t>
            </a:r>
            <a:r>
              <a:rPr lang="zh-TW" altLang="en-US" dirty="0">
                <a:effectLst/>
              </a:rPr>
              <a:t>：決策可先於虛擬模型驗證，避免現場試錯。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>
                <a:effectLst/>
              </a:rPr>
              <a:t>營運決策支援</a:t>
            </a:r>
            <a:r>
              <a:rPr lang="zh-TW" altLang="en-US" dirty="0">
                <a:effectLst/>
              </a:rPr>
              <a:t>：由經驗導向轉為數據導向，提升資源配置精準度。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2862962-F5DE-C919-AB9F-95A2B6BBD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303621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201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1CAE2-74C0-0560-1FE3-BFBD18C52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B384B21-ECEA-39B5-7AED-0F6BE670085C}"/>
              </a:ext>
            </a:extLst>
          </p:cNvPr>
          <p:cNvSpPr txBox="1"/>
          <p:nvPr/>
        </p:nvSpPr>
        <p:spPr>
          <a:xfrm>
            <a:off x="266824" y="5650691"/>
            <a:ext cx="118709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1200" dirty="0" err="1"/>
              <a:t>Raissi</a:t>
            </a:r>
            <a:r>
              <a:rPr lang="en-US" altLang="zh-TW" sz="1200" dirty="0"/>
              <a:t>, M., </a:t>
            </a:r>
            <a:r>
              <a:rPr lang="en-US" altLang="zh-TW" sz="1200" dirty="0" err="1"/>
              <a:t>Perdikaris</a:t>
            </a:r>
            <a:r>
              <a:rPr lang="en-US" altLang="zh-TW" sz="1200" dirty="0"/>
              <a:t>, P., &amp; </a:t>
            </a:r>
            <a:r>
              <a:rPr lang="en-US" altLang="zh-TW" sz="1200" dirty="0" err="1"/>
              <a:t>Karniadakis</a:t>
            </a:r>
            <a:r>
              <a:rPr lang="en-US" altLang="zh-TW" sz="1200" dirty="0"/>
              <a:t>, G. E. (2019). Physics-informed neural networks: A deep learning framework for solving forward and inverse problems involving nonlinear partial differential equations. </a:t>
            </a:r>
            <a:r>
              <a:rPr lang="en-US" altLang="zh-TW" sz="1200" i="1" dirty="0"/>
              <a:t>Journal of Computational Physics, 378</a:t>
            </a:r>
            <a:r>
              <a:rPr lang="en-US" altLang="zh-TW" sz="1200" dirty="0"/>
              <a:t>, 686–707. </a:t>
            </a:r>
            <a:endParaRPr 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E246EC-C3F5-F3F1-9047-A935939B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485" y="6276904"/>
            <a:ext cx="2743200" cy="365125"/>
          </a:xfrm>
        </p:spPr>
        <p:txBody>
          <a:bodyPr/>
          <a:lstStyle/>
          <a:p>
            <a:fld id="{30907F46-F8BA-46F2-9E61-F2ACCF72B448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B28393E-059B-E77B-599F-E442CD131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9030"/>
              </p:ext>
            </p:extLst>
          </p:nvPr>
        </p:nvGraphicFramePr>
        <p:xfrm>
          <a:off x="0" y="344678"/>
          <a:ext cx="1216478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4928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54928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</a:rPr>
                        <a:t>深度強化學習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/>
                          <a:ea typeface="標楷體"/>
                        </a:rPr>
                        <a:t>數位孿生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物理資訊神經網路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pic>
        <p:nvPicPr>
          <p:cNvPr id="1026" name="Picture 2" descr="What Are Physics-Informed Neural Networks (PINNs)? - MATLAB &amp; Simulink">
            <a:extLst>
              <a:ext uri="{FF2B5EF4-FFF2-40B4-BE49-F238E27FC236}">
                <a16:creationId xmlns:a16="http://schemas.microsoft.com/office/drawing/2014/main" id="{C3292C87-4BB9-FB7D-33F9-D3A1310FE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002" y="1803484"/>
            <a:ext cx="5762662" cy="3385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26C9412-358C-FBA5-C6EA-4ADBCEF9D305}"/>
              </a:ext>
            </a:extLst>
          </p:cNvPr>
          <p:cNvSpPr txBox="1"/>
          <p:nvPr/>
        </p:nvSpPr>
        <p:spPr>
          <a:xfrm>
            <a:off x="266824" y="1602883"/>
            <a:ext cx="61157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400" b="1" dirty="0"/>
              <a:t>1.</a:t>
            </a:r>
            <a:r>
              <a:rPr lang="zh-TW" altLang="en-US" sz="2400" b="1" dirty="0"/>
              <a:t>核心概念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1" dirty="0">
                <a:effectLst/>
              </a:rPr>
              <a:t>Physics-Informed Neural Networks (PINNs)</a:t>
            </a:r>
            <a:r>
              <a:rPr lang="zh-TW" altLang="en-US" dirty="0">
                <a:effectLst/>
              </a:rPr>
              <a:t>：將物理定律（偏微分方程 </a:t>
            </a:r>
            <a:r>
              <a:rPr lang="en-US" altLang="zh-TW" dirty="0">
                <a:effectLst/>
              </a:rPr>
              <a:t>PDE</a:t>
            </a:r>
            <a:r>
              <a:rPr lang="zh-TW" altLang="en-US" dirty="0">
                <a:effectLst/>
              </a:rPr>
              <a:t>）直接嵌入深度學習模型，使其在小數據情境下仍能準確推論。</a:t>
            </a:r>
            <a:endParaRPr lang="en-US" altLang="zh-TW" dirty="0">
              <a:effectLst/>
            </a:endParaRPr>
          </a:p>
          <a:p>
            <a:pPr>
              <a:buNone/>
            </a:pPr>
            <a:r>
              <a:rPr lang="en-US" altLang="zh-TW" sz="2400" b="1" dirty="0"/>
              <a:t>2.</a:t>
            </a:r>
            <a:r>
              <a:rPr lang="zh-TW" altLang="en-US" sz="2400" b="1" dirty="0"/>
              <a:t>應用案例</a:t>
            </a:r>
            <a:endParaRPr lang="zh-TW" alt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流體力學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量子力學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反應</a:t>
            </a:r>
            <a:r>
              <a:rPr lang="en-US" altLang="zh-TW" dirty="0"/>
              <a:t>–</a:t>
            </a:r>
            <a:r>
              <a:rPr lang="zh-TW" altLang="en-US" dirty="0"/>
              <a:t>擴散系統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非線性淺水波傳播</a:t>
            </a:r>
            <a:endParaRPr lang="en-US" altLang="zh-TW" dirty="0"/>
          </a:p>
          <a:p>
            <a:r>
              <a:rPr lang="en-US" altLang="zh-TW" sz="2400" b="1" dirty="0"/>
              <a:t>3.</a:t>
            </a:r>
            <a:r>
              <a:rPr lang="zh-TW" altLang="en-US" sz="2400" b="1" dirty="0"/>
              <a:t>主要效益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不需要大量標註數據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可解未知方程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不容易過擬合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82ED0A2-6898-E6DE-F47E-F37598239D06}"/>
              </a:ext>
            </a:extLst>
          </p:cNvPr>
          <p:cNvSpPr txBox="1"/>
          <p:nvPr/>
        </p:nvSpPr>
        <p:spPr>
          <a:xfrm>
            <a:off x="266824" y="901029"/>
            <a:ext cx="6115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dirty="0">
                <a:latin typeface="+mj-ea"/>
                <a:ea typeface="+mj-ea"/>
              </a:rPr>
              <a:t>物理資訊神經網路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8784F90-C0D9-E4E7-7A53-AA4015AD8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303621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175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1717BD-FFCC-47B3-9BA7-7F4729EE2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4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F4BD971-199B-46A0-88D0-3FC7B73E5152}"/>
              </a:ext>
            </a:extLst>
          </p:cNvPr>
          <p:cNvSpPr txBox="1"/>
          <p:nvPr/>
        </p:nvSpPr>
        <p:spPr>
          <a:xfrm>
            <a:off x="3925887" y="2413073"/>
            <a:ext cx="1057092" cy="221599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38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3</a:t>
            </a:r>
            <a:endParaRPr lang="zh-CN" altLang="en-US" sz="1380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2" name="菱形 1"/>
          <p:cNvSpPr/>
          <p:nvPr/>
        </p:nvSpPr>
        <p:spPr>
          <a:xfrm>
            <a:off x="3199174" y="2199135"/>
            <a:ext cx="2643868" cy="2643868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5302611" y="1371821"/>
            <a:ext cx="4298496" cy="4298496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99687" y="2876239"/>
            <a:ext cx="3904343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>
              <a:defRPr/>
            </a:pPr>
            <a:r>
              <a:rPr lang="zh-TW" altLang="en-US" dirty="0">
                <a:solidFill>
                  <a:srgbClr val="3B3838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研究方法</a:t>
            </a:r>
            <a:endParaRPr lang="zh-CN" altLang="en-US" dirty="0">
              <a:solidFill>
                <a:srgbClr val="3B3838"/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3429000"/>
            <a:ext cx="271171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11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>
              <a:lnSpc>
                <a:spcPct val="100000"/>
              </a:lnSpc>
              <a:defRPr/>
            </a:pPr>
            <a:r>
              <a:rPr lang="en-US" altLang="zh-CN" sz="2400" dirty="0">
                <a:solidFill>
                  <a:srgbClr val="3B3838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Proposed Design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1FF329-DACD-4655-8B3E-E88AC1EAF593}"/>
              </a:ext>
            </a:extLst>
          </p:cNvPr>
          <p:cNvSpPr txBox="1"/>
          <p:nvPr/>
        </p:nvSpPr>
        <p:spPr>
          <a:xfrm>
            <a:off x="3685677" y="3391508"/>
            <a:ext cx="14700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000" b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PART 03</a:t>
            </a:r>
            <a:endParaRPr lang="zh-CN" altLang="en-US" sz="20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26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605C451-A423-4AAE-3068-BDDB1CDAE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056554"/>
              </p:ext>
            </p:extLst>
          </p:nvPr>
        </p:nvGraphicFramePr>
        <p:xfrm>
          <a:off x="0" y="37084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aseline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</a:rPr>
                        <a:t>資料集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系統架構圖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i="0" u="none" strike="noStrike" kern="1200" baseline="0" noProof="0" dirty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流程圖</a:t>
                      </a:r>
                      <a:endParaRPr lang="en-US" altLang="zh-TW" sz="1800" b="1" i="0" u="none" strike="noStrike" kern="1200" baseline="0" noProof="0" dirty="0">
                        <a:solidFill>
                          <a:srgbClr val="FFFFFF"/>
                        </a:solidFill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15A018-9F0A-D46D-1097-3E6535B1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F9E8DBC-CD4D-10CE-C484-2B150191D9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6720" y="5226784"/>
            <a:ext cx="7814640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ea typeface="Google Sans Text"/>
              </a:rPr>
              <a:t>進水水質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ea typeface="Google Sans Text"/>
              </a:rPr>
              <a:t>（如進水溫度、進水汙染指數 SDI 等）。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ea typeface="Google Sans Text"/>
              </a:rPr>
              <a:t>終端產水水質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ea typeface="Google Sans Text"/>
              </a:rPr>
              <a:t>（如總有機碳 TOC、比電阻、大於等於 0.2µm 粒子數等）。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ea typeface="Google Sans Text"/>
              </a:rPr>
              <a:t>系統運作與成本指標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ea typeface="Google Sans Text"/>
              </a:rPr>
              <a:t>（如單耗能、化學藥劑成本、系統壓差等）。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0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F393BA-7C79-6151-6E2F-B16229D8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618" y="1043007"/>
            <a:ext cx="2968662" cy="418377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D0EC286-DDBB-719B-BE32-869274B75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82" y="1773038"/>
            <a:ext cx="5453318" cy="3082906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1D35C6F-987D-D537-A90D-6E1627238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23985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348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03F76DC-1AB0-B634-E41F-C10D614B2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766366"/>
              </p:ext>
            </p:extLst>
          </p:nvPr>
        </p:nvGraphicFramePr>
        <p:xfrm>
          <a:off x="0" y="37084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i="0" u="none" strike="noStrike" kern="1200" baseline="0" dirty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資料集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+mn-cs"/>
                        </a:rPr>
                        <a:t>系統架構圖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i="0" u="none" strike="noStrike" kern="1200" baseline="0" noProof="0" dirty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cs typeface="Times New Roman"/>
                        </a:rPr>
                        <a:t>流程圖</a:t>
                      </a:r>
                      <a:endParaRPr lang="en-US" altLang="zh-TW" sz="1800" b="1" i="0" u="none" strike="noStrike" kern="1200" baseline="0" noProof="0" dirty="0">
                        <a:solidFill>
                          <a:srgbClr val="FFFFFF"/>
                        </a:solidFill>
                        <a:latin typeface="Times New Roman"/>
                        <a:ea typeface="標楷體"/>
                        <a:cs typeface="Times New Roman"/>
                      </a:endParaRP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3BC210E3-19C7-CF41-6F00-289A9FEE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06FA60-66F8-107F-F95C-2D4B76470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868139"/>
            <a:ext cx="7391400" cy="4930006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064F4D0-C2AE-B9D6-91DB-8FB26EC4A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335384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FFE7DBE6-C72D-693C-62C3-FC6A26270391}"/>
              </a:ext>
            </a:extLst>
          </p:cNvPr>
          <p:cNvSpPr txBox="1"/>
          <p:nvPr/>
        </p:nvSpPr>
        <p:spPr>
          <a:xfrm>
            <a:off x="0" y="592460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本系統透過感測器即時採集數據，並由 </a:t>
            </a:r>
            <a:r>
              <a:rPr lang="en-US" altLang="zh-TW" dirty="0"/>
              <a:t>PINN </a:t>
            </a:r>
            <a:r>
              <a:rPr lang="zh-TW" altLang="en-US" dirty="0"/>
              <a:t>物理預測模型與強化學習引擎聯手打造數位分身，精準實現低成本的動態智慧排程。</a:t>
            </a:r>
          </a:p>
        </p:txBody>
      </p:sp>
    </p:spTree>
    <p:extLst>
      <p:ext uri="{BB962C8B-B14F-4D97-AF65-F5344CB8AC3E}">
        <p14:creationId xmlns:p14="http://schemas.microsoft.com/office/powerpoint/2010/main" val="2845052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024F-C734-A006-DF12-33C30FE6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91AF788-182E-3201-A5DA-79E89A78D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83045"/>
              </p:ext>
            </p:extLst>
          </p:nvPr>
        </p:nvGraphicFramePr>
        <p:xfrm>
          <a:off x="0" y="37084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資料集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系統架構圖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kern="1200" baseline="0" noProof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+mn-cs"/>
                        </a:rPr>
                        <a:t>流程圖</a:t>
                      </a:r>
                      <a:endParaRPr lang="en-US" altLang="zh-TW" sz="1800" b="1" kern="1200" baseline="0" noProof="0" dirty="0">
                        <a:solidFill>
                          <a:schemeClr val="tx1"/>
                        </a:solidFill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grpSp>
        <p:nvGrpSpPr>
          <p:cNvPr id="10" name="Google Shape;142;p24">
            <a:extLst>
              <a:ext uri="{FF2B5EF4-FFF2-40B4-BE49-F238E27FC236}">
                <a16:creationId xmlns:a16="http://schemas.microsoft.com/office/drawing/2014/main" id="{EDB93B14-9A08-46A9-39B7-CFC3A077DD8A}"/>
              </a:ext>
            </a:extLst>
          </p:cNvPr>
          <p:cNvGrpSpPr/>
          <p:nvPr/>
        </p:nvGrpSpPr>
        <p:grpSpPr>
          <a:xfrm>
            <a:off x="1942649" y="1517131"/>
            <a:ext cx="8306701" cy="3983557"/>
            <a:chOff x="525575" y="153888"/>
            <a:chExt cx="8306701" cy="3983557"/>
          </a:xfrm>
        </p:grpSpPr>
        <p:sp>
          <p:nvSpPr>
            <p:cNvPr id="11" name="Google Shape;143;p24">
              <a:extLst>
                <a:ext uri="{FF2B5EF4-FFF2-40B4-BE49-F238E27FC236}">
                  <a16:creationId xmlns:a16="http://schemas.microsoft.com/office/drawing/2014/main" id="{4B140A08-45EE-77EE-9C56-A98350F5FEF9}"/>
                </a:ext>
              </a:extLst>
            </p:cNvPr>
            <p:cNvSpPr/>
            <p:nvPr/>
          </p:nvSpPr>
          <p:spPr>
            <a:xfrm>
              <a:off x="525575" y="155750"/>
              <a:ext cx="8306700" cy="2415900"/>
            </a:xfrm>
            <a:prstGeom prst="rect">
              <a:avLst/>
            </a:prstGeom>
            <a:solidFill>
              <a:srgbClr val="DDEAF6"/>
            </a:solidFill>
            <a:ln w="23525" cap="flat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75250" tIns="37600" rIns="75250" bIns="37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44;p24">
              <a:extLst>
                <a:ext uri="{FF2B5EF4-FFF2-40B4-BE49-F238E27FC236}">
                  <a16:creationId xmlns:a16="http://schemas.microsoft.com/office/drawing/2014/main" id="{E07AE34B-BA02-C3CE-A384-ACC869D82C95}"/>
                </a:ext>
              </a:extLst>
            </p:cNvPr>
            <p:cNvGrpSpPr/>
            <p:nvPr/>
          </p:nvGrpSpPr>
          <p:grpSpPr>
            <a:xfrm>
              <a:off x="632558" y="626237"/>
              <a:ext cx="1578534" cy="642000"/>
              <a:chOff x="632558" y="626237"/>
              <a:chExt cx="1578534" cy="642000"/>
            </a:xfrm>
          </p:grpSpPr>
          <p:sp>
            <p:nvSpPr>
              <p:cNvPr id="49" name="Google Shape;145;p24">
                <a:extLst>
                  <a:ext uri="{FF2B5EF4-FFF2-40B4-BE49-F238E27FC236}">
                    <a16:creationId xmlns:a16="http://schemas.microsoft.com/office/drawing/2014/main" id="{2E804C17-BC75-201F-37D3-C082FE804D86}"/>
                  </a:ext>
                </a:extLst>
              </p:cNvPr>
              <p:cNvSpPr/>
              <p:nvPr/>
            </p:nvSpPr>
            <p:spPr>
              <a:xfrm>
                <a:off x="639875" y="626237"/>
                <a:ext cx="1482000" cy="642000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23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5250" tIns="37600" rIns="75250" bIns="376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8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146;p24">
                <a:extLst>
                  <a:ext uri="{FF2B5EF4-FFF2-40B4-BE49-F238E27FC236}">
                    <a16:creationId xmlns:a16="http://schemas.microsoft.com/office/drawing/2014/main" id="{8778828C-512B-BD94-44B1-526D87E536A1}"/>
                  </a:ext>
                </a:extLst>
              </p:cNvPr>
              <p:cNvSpPr txBox="1"/>
              <p:nvPr/>
            </p:nvSpPr>
            <p:spPr>
              <a:xfrm>
                <a:off x="632558" y="841635"/>
                <a:ext cx="1578534" cy="303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50" tIns="37600" rIns="75250" bIns="37600" anchor="t" anchorCtr="0">
                <a:spAutoFit/>
              </a:bodyPr>
              <a:lstStyle/>
              <a:p>
                <a:pPr algn="ctr"/>
                <a:r>
                  <a:rPr lang="zh-TW" altLang="en-US" sz="1481" b="1" dirty="0">
                    <a:sym typeface="Arial"/>
                  </a:rPr>
                  <a:t>歷史資料</a:t>
                </a:r>
                <a:endParaRPr sz="1481" b="1" dirty="0">
                  <a:sym typeface="Arial"/>
                </a:endParaRPr>
              </a:p>
            </p:txBody>
          </p:sp>
        </p:grpSp>
        <p:cxnSp>
          <p:nvCxnSpPr>
            <p:cNvPr id="13" name="Google Shape;147;p24">
              <a:extLst>
                <a:ext uri="{FF2B5EF4-FFF2-40B4-BE49-F238E27FC236}">
                  <a16:creationId xmlns:a16="http://schemas.microsoft.com/office/drawing/2014/main" id="{2BFF88F5-3E86-9CD4-EC59-019AEF7DAA80}"/>
                </a:ext>
              </a:extLst>
            </p:cNvPr>
            <p:cNvCxnSpPr>
              <a:stCxn id="49" idx="4"/>
              <a:endCxn id="14" idx="1"/>
            </p:cNvCxnSpPr>
            <p:nvPr/>
          </p:nvCxnSpPr>
          <p:spPr>
            <a:xfrm rot="10800000" flipH="1">
              <a:off x="2121875" y="946937"/>
              <a:ext cx="372000" cy="300"/>
            </a:xfrm>
            <a:prstGeom prst="straightConnector1">
              <a:avLst/>
            </a:prstGeom>
            <a:noFill/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4" name="Google Shape;148;p24">
              <a:extLst>
                <a:ext uri="{FF2B5EF4-FFF2-40B4-BE49-F238E27FC236}">
                  <a16:creationId xmlns:a16="http://schemas.microsoft.com/office/drawing/2014/main" id="{859CF448-F7FD-2554-59F1-78E3765CCF17}"/>
                </a:ext>
              </a:extLst>
            </p:cNvPr>
            <p:cNvSpPr/>
            <p:nvPr/>
          </p:nvSpPr>
          <p:spPr>
            <a:xfrm>
              <a:off x="2493775" y="698200"/>
              <a:ext cx="1291800" cy="497400"/>
            </a:xfrm>
            <a:prstGeom prst="rect">
              <a:avLst/>
            </a:prstGeom>
            <a:solidFill>
              <a:srgbClr val="FFFFFF"/>
            </a:solidFill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5250" tIns="37600" rIns="75250" bIns="37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" name="Google Shape;149;p24">
              <a:extLst>
                <a:ext uri="{FF2B5EF4-FFF2-40B4-BE49-F238E27FC236}">
                  <a16:creationId xmlns:a16="http://schemas.microsoft.com/office/drawing/2014/main" id="{C607E47D-CEA6-BCD9-5DBD-6EF7D4D9FBA2}"/>
                </a:ext>
              </a:extLst>
            </p:cNvPr>
            <p:cNvCxnSpPr>
              <a:stCxn id="14" idx="3"/>
              <a:endCxn id="27" idx="1"/>
            </p:cNvCxnSpPr>
            <p:nvPr/>
          </p:nvCxnSpPr>
          <p:spPr>
            <a:xfrm rot="10800000" flipH="1">
              <a:off x="3785575" y="942100"/>
              <a:ext cx="411600" cy="4800"/>
            </a:xfrm>
            <a:prstGeom prst="bentConnector3">
              <a:avLst>
                <a:gd name="adj1" fmla="val 50006"/>
              </a:avLst>
            </a:prstGeom>
            <a:noFill/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6" name="Google Shape;151;p24">
              <a:extLst>
                <a:ext uri="{FF2B5EF4-FFF2-40B4-BE49-F238E27FC236}">
                  <a16:creationId xmlns:a16="http://schemas.microsoft.com/office/drawing/2014/main" id="{03898966-A56E-FFAC-45CA-D449EE1E542D}"/>
                </a:ext>
              </a:extLst>
            </p:cNvPr>
            <p:cNvSpPr/>
            <p:nvPr/>
          </p:nvSpPr>
          <p:spPr>
            <a:xfrm>
              <a:off x="6907975" y="153888"/>
              <a:ext cx="1924200" cy="393600"/>
            </a:xfrm>
            <a:prstGeom prst="rect">
              <a:avLst/>
            </a:prstGeom>
            <a:solidFill>
              <a:srgbClr val="FFFFFF"/>
            </a:solidFill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5250" tIns="37600" rIns="75250" bIns="37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52;p24">
              <a:extLst>
                <a:ext uri="{FF2B5EF4-FFF2-40B4-BE49-F238E27FC236}">
                  <a16:creationId xmlns:a16="http://schemas.microsoft.com/office/drawing/2014/main" id="{BEB2DBC7-B330-7ED7-0A70-CC52AFE9B375}"/>
                </a:ext>
              </a:extLst>
            </p:cNvPr>
            <p:cNvSpPr txBox="1"/>
            <p:nvPr/>
          </p:nvSpPr>
          <p:spPr>
            <a:xfrm>
              <a:off x="7054389" y="210509"/>
              <a:ext cx="1631400" cy="303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75250" tIns="37600" rIns="75250" bIns="376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81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Offline Processing</a:t>
              </a:r>
              <a:endParaRPr sz="1481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" name="Google Shape;153;p24">
              <a:extLst>
                <a:ext uri="{FF2B5EF4-FFF2-40B4-BE49-F238E27FC236}">
                  <a16:creationId xmlns:a16="http://schemas.microsoft.com/office/drawing/2014/main" id="{DCD225A5-5406-322E-57C7-2D4BEC8E27F3}"/>
                </a:ext>
              </a:extLst>
            </p:cNvPr>
            <p:cNvSpPr/>
            <p:nvPr/>
          </p:nvSpPr>
          <p:spPr>
            <a:xfrm>
              <a:off x="525576" y="2636545"/>
              <a:ext cx="8306700" cy="1500900"/>
            </a:xfrm>
            <a:prstGeom prst="rect">
              <a:avLst/>
            </a:prstGeom>
            <a:solidFill>
              <a:srgbClr val="E1EFD8"/>
            </a:solidFill>
            <a:ln w="23525" cap="flat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75250" tIns="37600" rIns="75250" bIns="37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54;p24">
              <a:extLst>
                <a:ext uri="{FF2B5EF4-FFF2-40B4-BE49-F238E27FC236}">
                  <a16:creationId xmlns:a16="http://schemas.microsoft.com/office/drawing/2014/main" id="{56BAB061-4911-40B9-291F-C63A8734C5B8}"/>
                </a:ext>
              </a:extLst>
            </p:cNvPr>
            <p:cNvSpPr/>
            <p:nvPr/>
          </p:nvSpPr>
          <p:spPr>
            <a:xfrm>
              <a:off x="6907975" y="2636549"/>
              <a:ext cx="1924200" cy="393600"/>
            </a:xfrm>
            <a:prstGeom prst="rect">
              <a:avLst/>
            </a:prstGeom>
            <a:solidFill>
              <a:srgbClr val="FFFFFF"/>
            </a:solidFill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5250" tIns="37600" rIns="75250" bIns="37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55;p24">
              <a:extLst>
                <a:ext uri="{FF2B5EF4-FFF2-40B4-BE49-F238E27FC236}">
                  <a16:creationId xmlns:a16="http://schemas.microsoft.com/office/drawing/2014/main" id="{9DF88486-988D-BDE1-87BC-3B55D4DC9D75}"/>
                </a:ext>
              </a:extLst>
            </p:cNvPr>
            <p:cNvSpPr txBox="1"/>
            <p:nvPr/>
          </p:nvSpPr>
          <p:spPr>
            <a:xfrm>
              <a:off x="7064943" y="2693175"/>
              <a:ext cx="1610400" cy="303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75250" tIns="37600" rIns="75250" bIns="376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81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Online Processing</a:t>
              </a:r>
              <a:endParaRPr sz="1481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" name="Google Shape;160;p24">
              <a:extLst>
                <a:ext uri="{FF2B5EF4-FFF2-40B4-BE49-F238E27FC236}">
                  <a16:creationId xmlns:a16="http://schemas.microsoft.com/office/drawing/2014/main" id="{6529C682-8BF7-67A1-B6B5-80E81352CD34}"/>
                </a:ext>
              </a:extLst>
            </p:cNvPr>
            <p:cNvCxnSpPr>
              <a:stCxn id="39" idx="4"/>
              <a:endCxn id="41" idx="3"/>
            </p:cNvCxnSpPr>
            <p:nvPr/>
          </p:nvCxnSpPr>
          <p:spPr>
            <a:xfrm>
              <a:off x="2121875" y="3459949"/>
              <a:ext cx="2088000" cy="1200"/>
            </a:xfrm>
            <a:prstGeom prst="straightConnector1">
              <a:avLst/>
            </a:prstGeom>
            <a:noFill/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4" name="Google Shape;162;p24">
              <a:extLst>
                <a:ext uri="{FF2B5EF4-FFF2-40B4-BE49-F238E27FC236}">
                  <a16:creationId xmlns:a16="http://schemas.microsoft.com/office/drawing/2014/main" id="{FAF448D1-A700-AEB4-09D8-CE623498181C}"/>
                </a:ext>
              </a:extLst>
            </p:cNvPr>
            <p:cNvCxnSpPr>
              <a:stCxn id="41" idx="1"/>
              <a:endCxn id="37" idx="3"/>
            </p:cNvCxnSpPr>
            <p:nvPr/>
          </p:nvCxnSpPr>
          <p:spPr>
            <a:xfrm rot="10800000" flipH="1">
              <a:off x="5434390" y="3457707"/>
              <a:ext cx="393600" cy="3300"/>
            </a:xfrm>
            <a:prstGeom prst="straightConnector1">
              <a:avLst/>
            </a:prstGeom>
            <a:noFill/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25" name="Google Shape;164;p24">
              <a:extLst>
                <a:ext uri="{FF2B5EF4-FFF2-40B4-BE49-F238E27FC236}">
                  <a16:creationId xmlns:a16="http://schemas.microsoft.com/office/drawing/2014/main" id="{E606BD83-A73E-2B06-B7FA-76529B767080}"/>
                </a:ext>
              </a:extLst>
            </p:cNvPr>
            <p:cNvGrpSpPr/>
            <p:nvPr/>
          </p:nvGrpSpPr>
          <p:grpSpPr>
            <a:xfrm flipH="1">
              <a:off x="4209392" y="1467494"/>
              <a:ext cx="1224600" cy="531700"/>
              <a:chOff x="5884601" y="1467494"/>
              <a:chExt cx="1224600" cy="531700"/>
            </a:xfrm>
          </p:grpSpPr>
          <p:sp>
            <p:nvSpPr>
              <p:cNvPr id="47" name="Google Shape;157;p24">
                <a:extLst>
                  <a:ext uri="{FF2B5EF4-FFF2-40B4-BE49-F238E27FC236}">
                    <a16:creationId xmlns:a16="http://schemas.microsoft.com/office/drawing/2014/main" id="{7C9F077E-1274-4C5A-6902-BEFC0885586F}"/>
                  </a:ext>
                </a:extLst>
              </p:cNvPr>
              <p:cNvSpPr/>
              <p:nvPr/>
            </p:nvSpPr>
            <p:spPr>
              <a:xfrm>
                <a:off x="5884601" y="1488125"/>
                <a:ext cx="1224600" cy="497400"/>
              </a:xfrm>
              <a:prstGeom prst="rect">
                <a:avLst/>
              </a:prstGeom>
              <a:solidFill>
                <a:srgbClr val="FFFFFF"/>
              </a:solidFill>
              <a:ln w="23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5250" tIns="37600" rIns="75250" bIns="376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8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165;p24">
                <a:extLst>
                  <a:ext uri="{FF2B5EF4-FFF2-40B4-BE49-F238E27FC236}">
                    <a16:creationId xmlns:a16="http://schemas.microsoft.com/office/drawing/2014/main" id="{FB43D8A2-BF53-45A5-05A5-CEC659EFF80F}"/>
                  </a:ext>
                </a:extLst>
              </p:cNvPr>
              <p:cNvSpPr txBox="1"/>
              <p:nvPr/>
            </p:nvSpPr>
            <p:spPr>
              <a:xfrm>
                <a:off x="5973418" y="1467494"/>
                <a:ext cx="1071300" cy="5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50" tIns="37600" rIns="75250" bIns="376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481" b="1"/>
                  <a:t>建立數位分身</a:t>
                </a:r>
                <a:endParaRPr sz="1481" b="1" dirty="0"/>
              </a:p>
            </p:txBody>
          </p:sp>
        </p:grpSp>
        <p:sp>
          <p:nvSpPr>
            <p:cNvPr id="26" name="Google Shape;166;p24">
              <a:extLst>
                <a:ext uri="{FF2B5EF4-FFF2-40B4-BE49-F238E27FC236}">
                  <a16:creationId xmlns:a16="http://schemas.microsoft.com/office/drawing/2014/main" id="{45055841-AD5E-1406-4951-01EB18CB9543}"/>
                </a:ext>
              </a:extLst>
            </p:cNvPr>
            <p:cNvSpPr txBox="1"/>
            <p:nvPr/>
          </p:nvSpPr>
          <p:spPr>
            <a:xfrm>
              <a:off x="2608767" y="795240"/>
              <a:ext cx="1291800" cy="30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250" tIns="37600" rIns="75250" bIns="376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81" b="1"/>
                <a:t>資料前處理</a:t>
              </a:r>
              <a:endParaRPr sz="1481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50;p24">
              <a:extLst>
                <a:ext uri="{FF2B5EF4-FFF2-40B4-BE49-F238E27FC236}">
                  <a16:creationId xmlns:a16="http://schemas.microsoft.com/office/drawing/2014/main" id="{BDA4EC61-15C2-BA72-56DF-AC8549645FA7}"/>
                </a:ext>
              </a:extLst>
            </p:cNvPr>
            <p:cNvSpPr/>
            <p:nvPr/>
          </p:nvSpPr>
          <p:spPr>
            <a:xfrm>
              <a:off x="4197225" y="693450"/>
              <a:ext cx="1224600" cy="497400"/>
            </a:xfrm>
            <a:prstGeom prst="rect">
              <a:avLst/>
            </a:prstGeom>
            <a:solidFill>
              <a:srgbClr val="FFFFFF"/>
            </a:solidFill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5250" tIns="37600" rIns="75250" bIns="37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67;p24">
              <a:extLst>
                <a:ext uri="{FF2B5EF4-FFF2-40B4-BE49-F238E27FC236}">
                  <a16:creationId xmlns:a16="http://schemas.microsoft.com/office/drawing/2014/main" id="{2BF3CEDB-C91E-3209-2BF4-7D76591B00F5}"/>
                </a:ext>
              </a:extLst>
            </p:cNvPr>
            <p:cNvSpPr txBox="1"/>
            <p:nvPr/>
          </p:nvSpPr>
          <p:spPr>
            <a:xfrm>
              <a:off x="4330947" y="779624"/>
              <a:ext cx="981600" cy="30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250" tIns="37600" rIns="75250" bIns="376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81" b="1" dirty="0"/>
                <a:t>特徵工程</a:t>
              </a:r>
              <a:endParaRPr sz="1481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" name="Google Shape;168;p24">
              <a:extLst>
                <a:ext uri="{FF2B5EF4-FFF2-40B4-BE49-F238E27FC236}">
                  <a16:creationId xmlns:a16="http://schemas.microsoft.com/office/drawing/2014/main" id="{3FC3EE91-7812-9B57-8B8C-F3039984522A}"/>
                </a:ext>
              </a:extLst>
            </p:cNvPr>
            <p:cNvCxnSpPr>
              <a:stCxn id="27" idx="3"/>
              <a:endCxn id="45" idx="1"/>
            </p:cNvCxnSpPr>
            <p:nvPr/>
          </p:nvCxnSpPr>
          <p:spPr>
            <a:xfrm rot="10800000" flipH="1">
              <a:off x="5421825" y="936750"/>
              <a:ext cx="415200" cy="5400"/>
            </a:xfrm>
            <a:prstGeom prst="bentConnector3">
              <a:avLst>
                <a:gd name="adj1" fmla="val 49999"/>
              </a:avLst>
            </a:prstGeom>
            <a:noFill/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30" name="Google Shape;170;p24">
              <a:extLst>
                <a:ext uri="{FF2B5EF4-FFF2-40B4-BE49-F238E27FC236}">
                  <a16:creationId xmlns:a16="http://schemas.microsoft.com/office/drawing/2014/main" id="{F4EF6EB1-011E-745C-4B03-A39D42DEF480}"/>
                </a:ext>
              </a:extLst>
            </p:cNvPr>
            <p:cNvGrpSpPr/>
            <p:nvPr/>
          </p:nvGrpSpPr>
          <p:grpSpPr>
            <a:xfrm>
              <a:off x="5837017" y="688090"/>
              <a:ext cx="1224600" cy="497400"/>
              <a:chOff x="5837017" y="688090"/>
              <a:chExt cx="1224600" cy="497400"/>
            </a:xfrm>
          </p:grpSpPr>
          <p:sp>
            <p:nvSpPr>
              <p:cNvPr id="45" name="Google Shape;169;p24">
                <a:extLst>
                  <a:ext uri="{FF2B5EF4-FFF2-40B4-BE49-F238E27FC236}">
                    <a16:creationId xmlns:a16="http://schemas.microsoft.com/office/drawing/2014/main" id="{2A13052E-7518-919C-F772-1CC67FB74DB4}"/>
                  </a:ext>
                </a:extLst>
              </p:cNvPr>
              <p:cNvSpPr/>
              <p:nvPr/>
            </p:nvSpPr>
            <p:spPr>
              <a:xfrm>
                <a:off x="5837017" y="688090"/>
                <a:ext cx="1224600" cy="497400"/>
              </a:xfrm>
              <a:prstGeom prst="rect">
                <a:avLst/>
              </a:prstGeom>
              <a:solidFill>
                <a:srgbClr val="FFFFFF"/>
              </a:solidFill>
              <a:ln w="23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5250" tIns="37600" rIns="75250" bIns="376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8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171;p24">
                <a:extLst>
                  <a:ext uri="{FF2B5EF4-FFF2-40B4-BE49-F238E27FC236}">
                    <a16:creationId xmlns:a16="http://schemas.microsoft.com/office/drawing/2014/main" id="{F1EC9877-860E-E55E-8670-BCFA308A2DEC}"/>
                  </a:ext>
                </a:extLst>
              </p:cNvPr>
              <p:cNvSpPr txBox="1"/>
              <p:nvPr/>
            </p:nvSpPr>
            <p:spPr>
              <a:xfrm>
                <a:off x="5946288" y="779618"/>
                <a:ext cx="9816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50" tIns="37600" rIns="75250" bIns="376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481" b="1" dirty="0"/>
                  <a:t>資料擴增</a:t>
                </a:r>
                <a:endParaRPr sz="1481" b="1" dirty="0"/>
              </a:p>
            </p:txBody>
          </p:sp>
        </p:grpSp>
        <p:cxnSp>
          <p:nvCxnSpPr>
            <p:cNvPr id="31" name="Google Shape;172;p24">
              <a:extLst>
                <a:ext uri="{FF2B5EF4-FFF2-40B4-BE49-F238E27FC236}">
                  <a16:creationId xmlns:a16="http://schemas.microsoft.com/office/drawing/2014/main" id="{EC224AE4-EC5A-07F1-3E76-E53CA68739CC}"/>
                </a:ext>
              </a:extLst>
            </p:cNvPr>
            <p:cNvCxnSpPr>
              <a:stCxn id="45" idx="3"/>
              <a:endCxn id="47" idx="1"/>
            </p:cNvCxnSpPr>
            <p:nvPr/>
          </p:nvCxnSpPr>
          <p:spPr>
            <a:xfrm flipH="1">
              <a:off x="5434117" y="936790"/>
              <a:ext cx="1627500" cy="800100"/>
            </a:xfrm>
            <a:prstGeom prst="bentConnector3">
              <a:avLst>
                <a:gd name="adj1" fmla="val -14631"/>
              </a:avLst>
            </a:prstGeom>
            <a:noFill/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32" name="Google Shape;173;p24">
              <a:extLst>
                <a:ext uri="{FF2B5EF4-FFF2-40B4-BE49-F238E27FC236}">
                  <a16:creationId xmlns:a16="http://schemas.microsoft.com/office/drawing/2014/main" id="{76F70A51-5BA1-4F5B-1E78-F0FF7E59F8C8}"/>
                </a:ext>
              </a:extLst>
            </p:cNvPr>
            <p:cNvGrpSpPr/>
            <p:nvPr/>
          </p:nvGrpSpPr>
          <p:grpSpPr>
            <a:xfrm flipH="1">
              <a:off x="2493776" y="1474419"/>
              <a:ext cx="1224355" cy="522210"/>
              <a:chOff x="4195425" y="1476006"/>
              <a:chExt cx="1224600" cy="522314"/>
            </a:xfrm>
          </p:grpSpPr>
          <p:sp>
            <p:nvSpPr>
              <p:cNvPr id="43" name="Google Shape;174;p24">
                <a:extLst>
                  <a:ext uri="{FF2B5EF4-FFF2-40B4-BE49-F238E27FC236}">
                    <a16:creationId xmlns:a16="http://schemas.microsoft.com/office/drawing/2014/main" id="{8113E1EB-738E-8CCA-C680-FF183C256FAE}"/>
                  </a:ext>
                </a:extLst>
              </p:cNvPr>
              <p:cNvSpPr/>
              <p:nvPr/>
            </p:nvSpPr>
            <p:spPr>
              <a:xfrm>
                <a:off x="4195425" y="1489765"/>
                <a:ext cx="1224600" cy="497400"/>
              </a:xfrm>
              <a:prstGeom prst="rect">
                <a:avLst/>
              </a:prstGeom>
              <a:solidFill>
                <a:srgbClr val="FFFFFF"/>
              </a:solidFill>
              <a:ln w="23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5250" tIns="37600" rIns="75250" bIns="376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8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175;p24">
                <a:extLst>
                  <a:ext uri="{FF2B5EF4-FFF2-40B4-BE49-F238E27FC236}">
                    <a16:creationId xmlns:a16="http://schemas.microsoft.com/office/drawing/2014/main" id="{F33E9C56-A285-D77C-84D7-5045367AB913}"/>
                  </a:ext>
                </a:extLst>
              </p:cNvPr>
              <p:cNvSpPr txBox="1"/>
              <p:nvPr/>
            </p:nvSpPr>
            <p:spPr>
              <a:xfrm>
                <a:off x="4232553" y="1476006"/>
                <a:ext cx="1159969" cy="5223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50" tIns="37600" rIns="75250" bIns="376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450" b="1" dirty="0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強化學習環境模擬試錯</a:t>
                </a:r>
                <a:endParaRPr lang="en-US" altLang="zh-TW" sz="1450" b="1" dirty="0">
                  <a:solidFill>
                    <a:srgbClr val="000000"/>
                  </a:solidFill>
                  <a:latin typeface="Times New Roman"/>
                  <a:ea typeface="標楷體"/>
                  <a:cs typeface="Times New Roman"/>
                </a:endParaRPr>
              </a:p>
            </p:txBody>
          </p:sp>
        </p:grpSp>
        <p:cxnSp>
          <p:nvCxnSpPr>
            <p:cNvPr id="33" name="Google Shape;176;p24">
              <a:extLst>
                <a:ext uri="{FF2B5EF4-FFF2-40B4-BE49-F238E27FC236}">
                  <a16:creationId xmlns:a16="http://schemas.microsoft.com/office/drawing/2014/main" id="{28894BBF-3823-5EE4-EC43-189A5AD2F52C}"/>
                </a:ext>
              </a:extLst>
            </p:cNvPr>
            <p:cNvCxnSpPr>
              <a:stCxn id="47" idx="3"/>
              <a:endCxn id="43" idx="1"/>
            </p:cNvCxnSpPr>
            <p:nvPr/>
          </p:nvCxnSpPr>
          <p:spPr>
            <a:xfrm flipH="1">
              <a:off x="3717992" y="1736825"/>
              <a:ext cx="491400" cy="600"/>
            </a:xfrm>
            <a:prstGeom prst="bentConnector3">
              <a:avLst>
                <a:gd name="adj1" fmla="val 49986"/>
              </a:avLst>
            </a:prstGeom>
            <a:noFill/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1" name="Google Shape;158;p24">
              <a:extLst>
                <a:ext uri="{FF2B5EF4-FFF2-40B4-BE49-F238E27FC236}">
                  <a16:creationId xmlns:a16="http://schemas.microsoft.com/office/drawing/2014/main" id="{70B41863-C1D4-817D-1849-DD66FA91C6AA}"/>
                </a:ext>
              </a:extLst>
            </p:cNvPr>
            <p:cNvSpPr/>
            <p:nvPr/>
          </p:nvSpPr>
          <p:spPr>
            <a:xfrm flipH="1">
              <a:off x="4209790" y="3212307"/>
              <a:ext cx="1224600" cy="497400"/>
            </a:xfrm>
            <a:prstGeom prst="rect">
              <a:avLst/>
            </a:prstGeom>
            <a:solidFill>
              <a:srgbClr val="FFFFFF"/>
            </a:solidFill>
            <a:ln w="23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5250" tIns="37600" rIns="75250" bIns="37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450" b="1" dirty="0">
                  <a:solidFill>
                    <a:srgbClr val="000000"/>
                  </a:solidFill>
                  <a:latin typeface="Arial"/>
                  <a:ea typeface="DFKai-SB"/>
                  <a:cs typeface="Arial"/>
                  <a:sym typeface="Arial"/>
                </a:rPr>
                <a:t>即時監控與決策</a:t>
              </a:r>
              <a:endParaRPr sz="1481" b="1" dirty="0">
                <a:solidFill>
                  <a:srgbClr val="000000"/>
                </a:solidFill>
                <a:latin typeface="Arial"/>
                <a:ea typeface="DFKai-SB"/>
                <a:cs typeface="Arial"/>
                <a:sym typeface="Arial"/>
              </a:endParaRPr>
            </a:p>
          </p:txBody>
        </p:sp>
        <p:grpSp>
          <p:nvGrpSpPr>
            <p:cNvPr id="35" name="Google Shape;179;p24">
              <a:extLst>
                <a:ext uri="{FF2B5EF4-FFF2-40B4-BE49-F238E27FC236}">
                  <a16:creationId xmlns:a16="http://schemas.microsoft.com/office/drawing/2014/main" id="{28ACE021-97F5-208B-DB72-AE7BD22AFDDA}"/>
                </a:ext>
              </a:extLst>
            </p:cNvPr>
            <p:cNvGrpSpPr/>
            <p:nvPr/>
          </p:nvGrpSpPr>
          <p:grpSpPr>
            <a:xfrm>
              <a:off x="639875" y="3138949"/>
              <a:ext cx="1482000" cy="642000"/>
              <a:chOff x="639875" y="626237"/>
              <a:chExt cx="1482000" cy="642000"/>
            </a:xfrm>
          </p:grpSpPr>
          <p:sp>
            <p:nvSpPr>
              <p:cNvPr id="39" name="Google Shape;161;p24">
                <a:extLst>
                  <a:ext uri="{FF2B5EF4-FFF2-40B4-BE49-F238E27FC236}">
                    <a16:creationId xmlns:a16="http://schemas.microsoft.com/office/drawing/2014/main" id="{4846D104-0D4A-F426-2E98-F2C280D50B41}"/>
                  </a:ext>
                </a:extLst>
              </p:cNvPr>
              <p:cNvSpPr/>
              <p:nvPr/>
            </p:nvSpPr>
            <p:spPr>
              <a:xfrm>
                <a:off x="639875" y="626237"/>
                <a:ext cx="1482000" cy="642000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23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5250" tIns="37600" rIns="75250" bIns="376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8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180;p24">
                <a:extLst>
                  <a:ext uri="{FF2B5EF4-FFF2-40B4-BE49-F238E27FC236}">
                    <a16:creationId xmlns:a16="http://schemas.microsoft.com/office/drawing/2014/main" id="{B7DF1555-7D96-B0B1-B3FB-6EF318855215}"/>
                  </a:ext>
                </a:extLst>
              </p:cNvPr>
              <p:cNvSpPr txBox="1"/>
              <p:nvPr/>
            </p:nvSpPr>
            <p:spPr>
              <a:xfrm>
                <a:off x="807980" y="870420"/>
                <a:ext cx="1291800" cy="2990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50" tIns="37600" rIns="75250" bIns="376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450" b="1" dirty="0">
                    <a:solidFill>
                      <a:srgbClr val="000000"/>
                    </a:solidFill>
                    <a:latin typeface="Arial"/>
                    <a:ea typeface="DFKai-SB"/>
                    <a:cs typeface="Arial"/>
                    <a:sym typeface="Arial"/>
                  </a:rPr>
                  <a:t>感測器</a:t>
                </a:r>
                <a:r>
                  <a:rPr lang="zh-TW" sz="1450" b="1" dirty="0">
                    <a:solidFill>
                      <a:srgbClr val="000000"/>
                    </a:solidFill>
                    <a:latin typeface="Arial"/>
                    <a:ea typeface="DFKai-SB"/>
                    <a:cs typeface="Arial"/>
                    <a:sym typeface="Arial"/>
                  </a:rPr>
                  <a:t>資料</a:t>
                </a:r>
                <a:endParaRPr sz="1450" b="1" dirty="0">
                  <a:solidFill>
                    <a:srgbClr val="000000"/>
                  </a:solidFill>
                  <a:latin typeface="Arial"/>
                  <a:ea typeface="DFKai-SB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181;p24">
              <a:extLst>
                <a:ext uri="{FF2B5EF4-FFF2-40B4-BE49-F238E27FC236}">
                  <a16:creationId xmlns:a16="http://schemas.microsoft.com/office/drawing/2014/main" id="{9178844B-F7BC-ED1D-C108-F469FE6242A3}"/>
                </a:ext>
              </a:extLst>
            </p:cNvPr>
            <p:cNvGrpSpPr/>
            <p:nvPr/>
          </p:nvGrpSpPr>
          <p:grpSpPr>
            <a:xfrm flipH="1">
              <a:off x="5827955" y="3208984"/>
              <a:ext cx="1224355" cy="532168"/>
              <a:chOff x="4195425" y="1489765"/>
              <a:chExt cx="1224600" cy="532274"/>
            </a:xfrm>
          </p:grpSpPr>
          <p:sp>
            <p:nvSpPr>
              <p:cNvPr id="37" name="Google Shape;163;p24">
                <a:extLst>
                  <a:ext uri="{FF2B5EF4-FFF2-40B4-BE49-F238E27FC236}">
                    <a16:creationId xmlns:a16="http://schemas.microsoft.com/office/drawing/2014/main" id="{72934186-7D7F-9388-CA22-55E9F52625C3}"/>
                  </a:ext>
                </a:extLst>
              </p:cNvPr>
              <p:cNvSpPr/>
              <p:nvPr/>
            </p:nvSpPr>
            <p:spPr>
              <a:xfrm>
                <a:off x="4195425" y="1489765"/>
                <a:ext cx="1224600" cy="497400"/>
              </a:xfrm>
              <a:prstGeom prst="rect">
                <a:avLst/>
              </a:prstGeom>
              <a:solidFill>
                <a:srgbClr val="FFFFFF"/>
              </a:solidFill>
              <a:ln w="23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75250" tIns="37600" rIns="75250" bIns="376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8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182;p24">
                <a:extLst>
                  <a:ext uri="{FF2B5EF4-FFF2-40B4-BE49-F238E27FC236}">
                    <a16:creationId xmlns:a16="http://schemas.microsoft.com/office/drawing/2014/main" id="{3BAD439D-484C-6E37-38D7-418B9725958A}"/>
                  </a:ext>
                </a:extLst>
              </p:cNvPr>
              <p:cNvSpPr txBox="1"/>
              <p:nvPr/>
            </p:nvSpPr>
            <p:spPr>
              <a:xfrm>
                <a:off x="4298742" y="1499725"/>
                <a:ext cx="981600" cy="5223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250" tIns="37600" rIns="75250" bIns="376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450" b="1" dirty="0">
                    <a:solidFill>
                      <a:srgbClr val="000000"/>
                    </a:solidFill>
                    <a:latin typeface="Times New Roman"/>
                    <a:ea typeface="標楷體"/>
                    <a:cs typeface="Times New Roman"/>
                  </a:rPr>
                  <a:t>動態下達維護指令</a:t>
                </a:r>
              </a:p>
            </p:txBody>
          </p:sp>
        </p:grpSp>
      </p:grpSp>
      <p:cxnSp>
        <p:nvCxnSpPr>
          <p:cNvPr id="56" name="Google Shape;176;p24">
            <a:extLst>
              <a:ext uri="{FF2B5EF4-FFF2-40B4-BE49-F238E27FC236}">
                <a16:creationId xmlns:a16="http://schemas.microsoft.com/office/drawing/2014/main" id="{4EC4D630-3CA0-D553-EBA7-E16C8B8CE40C}"/>
              </a:ext>
            </a:extLst>
          </p:cNvPr>
          <p:cNvCxnSpPr>
            <a:cxnSpLocks/>
          </p:cNvCxnSpPr>
          <p:nvPr/>
        </p:nvCxnSpPr>
        <p:spPr>
          <a:xfrm flipH="1">
            <a:off x="3382466" y="3100068"/>
            <a:ext cx="491400" cy="600"/>
          </a:xfrm>
          <a:prstGeom prst="bentConnector3">
            <a:avLst>
              <a:gd name="adj1" fmla="val 49986"/>
            </a:avLst>
          </a:prstGeom>
          <a:noFill/>
          <a:ln w="23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" name="Google Shape;174;p24">
            <a:extLst>
              <a:ext uri="{FF2B5EF4-FFF2-40B4-BE49-F238E27FC236}">
                <a16:creationId xmlns:a16="http://schemas.microsoft.com/office/drawing/2014/main" id="{3C19ECCD-6158-FED7-9751-5815AC51BC56}"/>
              </a:ext>
            </a:extLst>
          </p:cNvPr>
          <p:cNvSpPr/>
          <p:nvPr/>
        </p:nvSpPr>
        <p:spPr>
          <a:xfrm flipH="1">
            <a:off x="2147364" y="2862305"/>
            <a:ext cx="1224355" cy="497301"/>
          </a:xfrm>
          <a:prstGeom prst="rect">
            <a:avLst/>
          </a:prstGeom>
          <a:solidFill>
            <a:srgbClr val="FFFFFF"/>
          </a:solidFill>
          <a:ln w="23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5250" tIns="37600" rIns="75250" bIns="376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50" b="1" dirty="0">
                <a:solidFill>
                  <a:srgbClr val="000000"/>
                </a:solidFill>
                <a:latin typeface="Arial"/>
                <a:ea typeface="DFKai-SB"/>
                <a:cs typeface="Arial"/>
              </a:rPr>
              <a:t>部屬模型至工控電腦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33DBC78-E8C5-F4E7-DA7A-2579F830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07F46-F8BA-46F2-9E61-F2ACCF72B448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D4716FB-A5B6-21A0-FFA6-4FB19251E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335384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12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0D038-D1BF-12A1-5E9F-B41B0CA0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8B4119B-41ED-B7C2-95F2-9588DB04EA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4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D43864E-F3C3-4803-3F6B-DDD182EA2E40}"/>
              </a:ext>
            </a:extLst>
          </p:cNvPr>
          <p:cNvSpPr txBox="1"/>
          <p:nvPr/>
        </p:nvSpPr>
        <p:spPr>
          <a:xfrm>
            <a:off x="3925887" y="2413073"/>
            <a:ext cx="1057092" cy="221599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TW" sz="13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4</a:t>
            </a:r>
            <a:endParaRPr lang="zh-CN" altLang="en-US" sz="13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2" name="菱形 1">
            <a:extLst>
              <a:ext uri="{FF2B5EF4-FFF2-40B4-BE49-F238E27FC236}">
                <a16:creationId xmlns:a16="http://schemas.microsoft.com/office/drawing/2014/main" id="{B093522B-19A1-A0A0-BD47-C9A41D3FE381}"/>
              </a:ext>
            </a:extLst>
          </p:cNvPr>
          <p:cNvSpPr/>
          <p:nvPr/>
        </p:nvSpPr>
        <p:spPr>
          <a:xfrm>
            <a:off x="3199174" y="2199135"/>
            <a:ext cx="2643868" cy="2643868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1C4138FB-DD39-1B5B-6717-E179528E20E7}"/>
              </a:ext>
            </a:extLst>
          </p:cNvPr>
          <p:cNvSpPr/>
          <p:nvPr/>
        </p:nvSpPr>
        <p:spPr>
          <a:xfrm>
            <a:off x="5302611" y="1371821"/>
            <a:ext cx="4298496" cy="4298496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FEDF01-783F-811F-50B5-DB3F839240CE}"/>
              </a:ext>
            </a:extLst>
          </p:cNvPr>
          <p:cNvSpPr txBox="1"/>
          <p:nvPr/>
        </p:nvSpPr>
        <p:spPr>
          <a:xfrm>
            <a:off x="5499687" y="2876239"/>
            <a:ext cx="3904343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>
              <a:defRPr/>
            </a:pPr>
            <a:r>
              <a:rPr lang="zh-TW" altLang="en-US" dirty="0">
                <a:solidFill>
                  <a:srgbClr val="3B3838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實驗</a:t>
            </a:r>
            <a:endParaRPr lang="zh-CN" altLang="en-US" dirty="0">
              <a:solidFill>
                <a:srgbClr val="3B3838"/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B3CBD4-A0BB-8B04-757D-1185242EB5E7}"/>
              </a:ext>
            </a:extLst>
          </p:cNvPr>
          <p:cNvSpPr txBox="1"/>
          <p:nvPr/>
        </p:nvSpPr>
        <p:spPr>
          <a:xfrm>
            <a:off x="6096000" y="3429000"/>
            <a:ext cx="271171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11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Experiments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8BB224-2281-A592-456A-AE3188B3D96B}"/>
              </a:ext>
            </a:extLst>
          </p:cNvPr>
          <p:cNvSpPr txBox="1"/>
          <p:nvPr/>
        </p:nvSpPr>
        <p:spPr>
          <a:xfrm>
            <a:off x="3685677" y="3391508"/>
            <a:ext cx="14700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PART 0</a:t>
            </a:r>
            <a:r>
              <a:rPr lang="en-US" altLang="zh-TW" sz="20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4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09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C7EEA33-4E3E-55AB-1CC0-59A65B750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157272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3527D69-EDDF-E7A2-3D8C-F14717623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162346"/>
              </p:ext>
            </p:extLst>
          </p:nvPr>
        </p:nvGraphicFramePr>
        <p:xfrm>
          <a:off x="0" y="37084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812535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工廠水質軌跡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更換頻率比較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成本比較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kern="1200" baseline="0" noProof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ESG</a:t>
                      </a:r>
                      <a:r>
                        <a:rPr lang="zh-TW" altLang="en-US" sz="1800" b="1" kern="1200" baseline="0" noProof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影響</a:t>
                      </a:r>
                      <a:endParaRPr lang="en-US" altLang="zh-TW" sz="1800" b="1" kern="1200" baseline="0" noProof="0" dirty="0">
                        <a:solidFill>
                          <a:schemeClr val="bg1"/>
                        </a:solidFill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66C3775D-6B01-0F0B-2026-E978EC667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11" y="1304634"/>
            <a:ext cx="8509945" cy="42168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9D320DB-67A4-A3A2-7141-B1ECA4FA8947}"/>
              </a:ext>
            </a:extLst>
          </p:cNvPr>
          <p:cNvSpPr txBox="1"/>
          <p:nvPr/>
        </p:nvSpPr>
        <p:spPr>
          <a:xfrm>
            <a:off x="116958" y="5622756"/>
            <a:ext cx="11823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AI </a:t>
            </a:r>
            <a:r>
              <a:rPr lang="zh-TW" altLang="en-US" dirty="0"/>
              <a:t>動態排程精準掌控水質走勢，徹底拒絕傳統盲目保養，直到將混床樹脂效能</a:t>
            </a:r>
            <a:r>
              <a:rPr lang="en-US" altLang="zh-TW" dirty="0"/>
              <a:t>『</a:t>
            </a:r>
            <a:r>
              <a:rPr lang="zh-TW" altLang="en-US" dirty="0"/>
              <a:t>壓榨至殘值極限</a:t>
            </a:r>
            <a:r>
              <a:rPr lang="en-US" altLang="zh-TW" dirty="0"/>
              <a:t>』</a:t>
            </a:r>
            <a:r>
              <a:rPr lang="zh-TW" altLang="en-US" dirty="0"/>
              <a:t>、逼近警戒線前夕才精準換洗</a:t>
            </a:r>
          </a:p>
        </p:txBody>
      </p:sp>
    </p:spTree>
    <p:extLst>
      <p:ext uri="{BB962C8B-B14F-4D97-AF65-F5344CB8AC3E}">
        <p14:creationId xmlns:p14="http://schemas.microsoft.com/office/powerpoint/2010/main" val="353326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C77128B-7CEF-54D4-81E4-9626B42D1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873019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sp>
        <p:nvSpPr>
          <p:cNvPr id="21" name="Desc20"/>
          <p:cNvSpPr txBox="1"/>
          <p:nvPr/>
        </p:nvSpPr>
        <p:spPr>
          <a:xfrm>
            <a:off x="609600" y="1200000"/>
            <a:ext cx="5100000" cy="52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lang="zh-TW" altLang="en-US" sz="14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本圖比較傳統維護</a:t>
            </a:r>
            <a:r>
              <a:rPr lang="zh-TW" altLang="en-US" sz="14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（含部分達 failure limit 才更換）</a:t>
            </a:r>
            <a:r>
              <a:rPr lang="zh-TW" altLang="en-US" sz="14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 AI 動態維護（PINN+RL）在一年內的總清洗次數差異。</a:t>
            </a:r>
          </a:p>
          <a:p>
            <a:pPr algn="l">
              <a:lnSpc>
                <a:spcPts val="2600"/>
              </a:lnSpc>
              <a:spcBef>
                <a:spcPts val="1000"/>
              </a:spcBef>
            </a:pPr>
            <a:r>
              <a:rPr lang="zh-TW" altLang="en-US" sz="1400" b="1" kern="1200" dirty="0">
                <a:solidFill>
                  <a:srgbClr val="1F3864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傳統維護</a:t>
            </a:r>
            <a:r>
              <a:rPr lang="zh-TW" altLang="en-US" sz="1400" b="1" kern="1200">
                <a:solidFill>
                  <a:srgbClr val="1F3864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（含故障更換）</a:t>
            </a:r>
            <a:r>
              <a:rPr lang="zh-TW" altLang="en-US" sz="1400" b="1" kern="1200" dirty="0">
                <a:solidFill>
                  <a:srgbClr val="1F3864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：13 次/年</a:t>
            </a:r>
          </a:p>
          <a:p>
            <a:pPr algn="l">
              <a:lnSpc>
                <a:spcPts val="2600"/>
              </a:lnSpc>
            </a:pPr>
            <a:r>
              <a:rPr lang="zh-TW" altLang="en-US" sz="12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部分依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固定時間表清洗，</a:t>
            </a:r>
            <a:r>
              <a:rPr lang="zh-TW" altLang="en-US" sz="12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但有些膜組已超過容許閾值（failure limit）才進行更換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，導致</a:t>
            </a:r>
            <a:r>
              <a:rPr lang="zh-TW" altLang="en-US" sz="12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效能衰退期間產水品質下降，同時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化學藥劑消耗與停機</a:t>
            </a:r>
            <a:r>
              <a:rPr lang="zh-TW" altLang="en-US" sz="1200" kern="12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成本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增加。</a:t>
            </a:r>
          </a:p>
          <a:p>
            <a:pPr algn="l">
              <a:lnSpc>
                <a:spcPts val="2600"/>
              </a:lnSpc>
              <a:spcBef>
                <a:spcPts val="1000"/>
              </a:spcBef>
            </a:pPr>
            <a:r>
              <a:rPr lang="zh-TW" altLang="en-US" sz="1400" b="1" kern="1200" dirty="0">
                <a:solidFill>
                  <a:srgbClr val="2E75B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動態維護（PINN+RL）：8 次/年</a:t>
            </a:r>
          </a:p>
          <a:p>
            <a:pPr algn="l">
              <a:lnSpc>
                <a:spcPts val="2600"/>
              </a:lnSpc>
            </a:pP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透過物理資訊神經網路與強化學習即時監控膏污狀態，僅在必要時執行清洗，有效降低維護頻率。</a:t>
            </a:r>
          </a:p>
          <a:p>
            <a:pPr algn="l">
              <a:lnSpc>
                <a:spcPts val="2600"/>
              </a:lnSpc>
              <a:spcBef>
                <a:spcPts val="1000"/>
              </a:spcBef>
            </a:pPr>
            <a:r>
              <a:rPr lang="zh-TW" altLang="en-US" sz="14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效益提升</a:t>
            </a:r>
          </a:p>
          <a:p>
            <a:pPr algn="l">
              <a:lnSpc>
                <a:spcPts val="2600"/>
              </a:lnSpc>
            </a:pP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維護次數減少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</a:rPr>
              <a:t>5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</a:rPr>
              <a:t>次</a:t>
            </a: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，直接降低停機成本與化學藥劑消耗，同時維持產水品質於合格範圍內。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95FE40F-A476-4A08-7591-D87D2CA29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457" y="1200000"/>
            <a:ext cx="6139804" cy="4580242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EC14A86-01BB-DE1F-D9F7-272DC5A60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906026"/>
              </p:ext>
            </p:extLst>
          </p:nvPr>
        </p:nvGraphicFramePr>
        <p:xfrm>
          <a:off x="0" y="37084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812535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工廠水質軌跡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+mn-cs"/>
                        </a:rPr>
                        <a:t>更換頻率比較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成本比較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kern="1200" baseline="0" noProof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ESG</a:t>
                      </a:r>
                      <a:r>
                        <a:rPr lang="zh-TW" altLang="en-US" sz="1800" b="1" kern="1200" baseline="0" noProof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影響</a:t>
                      </a:r>
                      <a:endParaRPr lang="en-US" altLang="zh-TW" sz="1800" b="1" kern="1200" baseline="0" noProof="0" dirty="0">
                        <a:solidFill>
                          <a:schemeClr val="bg1"/>
                        </a:solidFill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60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B4ADA75-AA9E-47D0-D7D5-B88DA1B32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873019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sp>
        <p:nvSpPr>
          <p:cNvPr id="31" name="Desc21"/>
          <p:cNvSpPr txBox="1"/>
          <p:nvPr/>
        </p:nvSpPr>
        <p:spPr>
          <a:xfrm>
            <a:off x="609600" y="1200000"/>
            <a:ext cx="5200000" cy="520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lang="zh-TW" altLang="en-US" sz="14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本圖展示傳統與 AI 動態維護在年度營運支出（OPEX）上的成本結構差異。</a:t>
            </a:r>
          </a:p>
          <a:p>
            <a:pPr algn="l">
              <a:lnSpc>
                <a:spcPts val="2600"/>
              </a:lnSpc>
              <a:spcBef>
                <a:spcPts val="1000"/>
              </a:spcBef>
            </a:pPr>
            <a:r>
              <a:rPr lang="zh-TW" altLang="en-US" sz="1400" b="1" kern="1200" dirty="0">
                <a:solidFill>
                  <a:srgbClr val="2E75B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化學藥劑與樹脂成本</a:t>
            </a:r>
          </a:p>
          <a:p>
            <a:pPr algn="l">
              <a:lnSpc>
                <a:spcPts val="2600"/>
              </a:lnSpc>
            </a:pP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傳統方式佔 28.6%，AI 優化後降至 17.6%，減少約 38%。透過精準判斷清洗時機，有效降低藥劑浪費。</a:t>
            </a:r>
          </a:p>
          <a:p>
            <a:pPr algn="l">
              <a:lnSpc>
                <a:spcPts val="2600"/>
              </a:lnSpc>
              <a:spcBef>
                <a:spcPts val="1000"/>
              </a:spcBef>
            </a:pPr>
            <a:r>
              <a:rPr lang="zh-TW" altLang="en-US" sz="14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停機機會成本</a:t>
            </a:r>
          </a:p>
          <a:p>
            <a:pPr algn="l">
              <a:lnSpc>
                <a:spcPts val="2600"/>
              </a:lnSpc>
            </a:pP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傳統方式佔 71.4%，AI 優化後降至 44.0%，減少約 38%。減少非計畫停機是最大的成本節省來源。</a:t>
            </a:r>
          </a:p>
          <a:p>
            <a:pPr algn="l">
              <a:lnSpc>
                <a:spcPts val="2600"/>
              </a:lnSpc>
              <a:spcBef>
                <a:spcPts val="1000"/>
              </a:spcBef>
            </a:pPr>
            <a:r>
              <a:rPr lang="zh-TW" altLang="en-US" sz="1400" b="1" kern="1200" dirty="0">
                <a:solidFill>
                  <a:srgbClr val="1F3864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總體效益</a:t>
            </a:r>
          </a:p>
          <a:p>
            <a:pPr algn="l">
              <a:lnSpc>
                <a:spcPts val="2600"/>
              </a:lnSpc>
            </a:pPr>
            <a:r>
              <a:rPr lang="zh-TW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動態維護將總體 OPEX 從 100% 降至 61.5%，節省約 38.5% 的營運成本，顯示 PINN+RL 架構在成本優化上具有顯著效果。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CA921D-FABA-6C51-E275-6B1CD824A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0000"/>
            <a:ext cx="5984647" cy="4623380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B0C6044-EB2B-90FE-2AAB-350764EAB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08123"/>
              </p:ext>
            </p:extLst>
          </p:nvPr>
        </p:nvGraphicFramePr>
        <p:xfrm>
          <a:off x="0" y="37084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812535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工廠水質軌跡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更換頻率比較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成本比較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kern="1200" baseline="0" noProof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ESG</a:t>
                      </a:r>
                      <a:r>
                        <a:rPr lang="zh-TW" altLang="en-US" sz="1800" b="1" kern="1200" baseline="0" noProof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影響</a:t>
                      </a:r>
                      <a:endParaRPr lang="en-US" altLang="zh-TW" sz="1800" b="1" kern="1200" baseline="0" noProof="0" dirty="0">
                        <a:solidFill>
                          <a:schemeClr val="bg1"/>
                        </a:solidFill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41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CABE38-C527-BA12-0AAB-2F323E97D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240684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EAFF5CEF-1FBE-9A1C-CF3D-1D2BCBFA1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92" y="1150762"/>
            <a:ext cx="8651216" cy="427959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BC5F7E6-2B10-F35D-0C69-66905485C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101884"/>
              </p:ext>
            </p:extLst>
          </p:nvPr>
        </p:nvGraphicFramePr>
        <p:xfrm>
          <a:off x="0" y="37084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812535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82082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201994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06603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工廠水質軌跡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Times New Roman"/>
                          <a:ea typeface="標楷體"/>
                          <a:cs typeface="+mn-cs"/>
                        </a:rPr>
                        <a:t>更換頻率比較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成本比較</a:t>
                      </a: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1" kern="1200" baseline="0" noProof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+mn-cs"/>
                        </a:rPr>
                        <a:t>ESG</a:t>
                      </a:r>
                      <a:r>
                        <a:rPr lang="zh-TW" altLang="en-US" sz="1800" b="1" kern="1200" baseline="0" noProof="0" dirty="0">
                          <a:solidFill>
                            <a:schemeClr val="tx1"/>
                          </a:solidFill>
                          <a:latin typeface="Times New Roman"/>
                          <a:ea typeface="標楷體"/>
                          <a:cs typeface="+mn-cs"/>
                        </a:rPr>
                        <a:t>影響</a:t>
                      </a:r>
                      <a:endParaRPr lang="en-US" altLang="zh-TW" sz="1800" b="1" kern="1200" baseline="0" noProof="0" dirty="0">
                        <a:solidFill>
                          <a:schemeClr val="tx1"/>
                        </a:solidFill>
                        <a:latin typeface="Times New Roman"/>
                        <a:ea typeface="標楷體"/>
                        <a:cs typeface="+mn-cs"/>
                      </a:endParaRPr>
                    </a:p>
                  </a:txBody>
                  <a:tcPr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246659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8C112757-4E85-8363-60BF-E882406EA4B5}"/>
              </a:ext>
            </a:extLst>
          </p:cNvPr>
          <p:cNvSpPr txBox="1"/>
          <p:nvPr/>
        </p:nvSpPr>
        <p:spPr>
          <a:xfrm>
            <a:off x="252774" y="5516269"/>
            <a:ext cx="11632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混床樹脂（</a:t>
            </a:r>
            <a:r>
              <a:rPr lang="en-US" altLang="zh-TW" dirty="0"/>
              <a:t>MB</a:t>
            </a:r>
            <a:r>
              <a:rPr lang="zh-TW" altLang="en-US" dirty="0"/>
              <a:t>）必須頻繁消耗大量的酸鹼化學藥劑來進行「再生保養」以恢復過濾活性，所以每一次的清洗都會產生並排放出巨量的高濃度酸鹼廢水。</a:t>
            </a:r>
          </a:p>
        </p:txBody>
      </p:sp>
    </p:spTree>
    <p:extLst>
      <p:ext uri="{BB962C8B-B14F-4D97-AF65-F5344CB8AC3E}">
        <p14:creationId xmlns:p14="http://schemas.microsoft.com/office/powerpoint/2010/main" val="247494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3EB01-407B-EAFD-B544-079EAD3E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469546E9-AEED-5FA2-6EF8-1C1D7FC114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4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C496EB0-672A-EEE2-56BA-AE77DC73B40B}"/>
              </a:ext>
            </a:extLst>
          </p:cNvPr>
          <p:cNvSpPr txBox="1"/>
          <p:nvPr/>
        </p:nvSpPr>
        <p:spPr>
          <a:xfrm>
            <a:off x="3925887" y="2413073"/>
            <a:ext cx="1057092" cy="221599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TW" sz="13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5</a:t>
            </a:r>
            <a:endParaRPr lang="zh-CN" altLang="en-US" sz="13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2" name="菱形 1">
            <a:extLst>
              <a:ext uri="{FF2B5EF4-FFF2-40B4-BE49-F238E27FC236}">
                <a16:creationId xmlns:a16="http://schemas.microsoft.com/office/drawing/2014/main" id="{0383104C-3BBF-758A-73D8-23717EC51E2D}"/>
              </a:ext>
            </a:extLst>
          </p:cNvPr>
          <p:cNvSpPr/>
          <p:nvPr/>
        </p:nvSpPr>
        <p:spPr>
          <a:xfrm>
            <a:off x="3199174" y="2199135"/>
            <a:ext cx="2643868" cy="2643868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3AA206B0-D744-EC27-C56E-CFF9325D343A}"/>
              </a:ext>
            </a:extLst>
          </p:cNvPr>
          <p:cNvSpPr/>
          <p:nvPr/>
        </p:nvSpPr>
        <p:spPr>
          <a:xfrm>
            <a:off x="5302611" y="1371821"/>
            <a:ext cx="4298496" cy="4298496"/>
          </a:xfrm>
          <a:prstGeom prst="diamond">
            <a:avLst/>
          </a:prstGeom>
          <a:noFill/>
          <a:ln w="28575"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424633-FF4B-DDD8-441C-14F7FC163676}"/>
              </a:ext>
            </a:extLst>
          </p:cNvPr>
          <p:cNvSpPr txBox="1"/>
          <p:nvPr/>
        </p:nvSpPr>
        <p:spPr>
          <a:xfrm>
            <a:off x="5499687" y="2876239"/>
            <a:ext cx="3904343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>
              <a:defRPr/>
            </a:pPr>
            <a:r>
              <a:rPr lang="zh-TW" altLang="en-US">
                <a:solidFill>
                  <a:srgbClr val="3B3838"/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結果</a:t>
            </a:r>
            <a:endParaRPr lang="zh-CN" altLang="en-US" dirty="0">
              <a:solidFill>
                <a:srgbClr val="3B3838"/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DDCE4C-6D06-DDDC-40D9-FB43C96C9208}"/>
              </a:ext>
            </a:extLst>
          </p:cNvPr>
          <p:cNvSpPr txBox="1"/>
          <p:nvPr/>
        </p:nvSpPr>
        <p:spPr>
          <a:xfrm>
            <a:off x="6096000" y="3429000"/>
            <a:ext cx="271171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110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Conclusions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CC0E79-C5B0-52F8-6B3D-C6C9FD5BE190}"/>
              </a:ext>
            </a:extLst>
          </p:cNvPr>
          <p:cNvSpPr txBox="1"/>
          <p:nvPr/>
        </p:nvSpPr>
        <p:spPr>
          <a:xfrm>
            <a:off x="3685677" y="3391508"/>
            <a:ext cx="147002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PART 0</a:t>
            </a:r>
            <a:r>
              <a:rPr lang="en-US" altLang="zh-TW" sz="20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sym typeface="Source Han Serif SC" panose="02020400000000000000" pitchFamily="18" charset="-122"/>
              </a:rPr>
              <a:t>5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sym typeface="Source Han Serif SC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58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921693F-3922-6882-D99D-A3E8177F9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485198"/>
              </p:ext>
            </p:extLst>
          </p:nvPr>
        </p:nvGraphicFramePr>
        <p:xfrm>
          <a:off x="-27216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581177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51159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22058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1021502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2946929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Introduction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Related Work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Methodology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標楷體"/>
                        </a:defRPr>
                      </a:lvl9pPr>
                    </a:lstStyle>
                    <a:p>
                      <a:pPr algn="ctr"/>
                      <a:r>
                        <a:rPr lang="en-US" altLang="zh-TW" sz="1800" b="1" i="0" kern="1200" baseline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Experiments</a:t>
                      </a:r>
                      <a:endParaRPr lang="zh-TW" altLang="en-US" b="1" baseline="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Conclusions</a:t>
                      </a:r>
                      <a:endParaRPr lang="zh-TW" altLang="en-US" b="1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743095"/>
                  </a:ext>
                </a:extLst>
              </a:tr>
            </a:tbl>
          </a:graphicData>
        </a:graphic>
      </p:graphicFrame>
      <p:sp>
        <p:nvSpPr>
          <p:cNvPr id="10" name="Title 10"/>
          <p:cNvSpPr txBox="1"/>
          <p:nvPr/>
        </p:nvSpPr>
        <p:spPr>
          <a:xfrm>
            <a:off x="457200" y="548640"/>
            <a:ext cx="11277600" cy="54864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/>
            <a:r>
              <a:rPr lang="zh-TW" altLang="en-US" sz="2800" b="1">
                <a:solidFill>
                  <a:schemeClr val="tx1"/>
                </a:solidFill>
                <a:latin typeface="+mj-ea"/>
                <a:ea typeface="+mj-ea"/>
              </a:rPr>
              <a:t>結論與研究成果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" y="1188720"/>
            <a:ext cx="5394960" cy="251460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400"/>
              </a:spcAft>
            </a:pPr>
            <a:r>
              <a:rPr lang="zh-TW" alt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📉 維護頻率與成本效益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AI 動態排程將年度清洗從 13 次降至 8 次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總體成本節省約 38.5%，停機成本與藥劑成本均顯著下降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混床樹脂效能利用至警戒線前才換洗，避免傳統盲目保養的浪費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17920" y="1188720"/>
            <a:ext cx="5394960" cy="251460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400"/>
              </a:spcAft>
            </a:pPr>
            <a:r>
              <a:rPr lang="zh-TW" alt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🔬 技術貢獻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整合數位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孿生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、PINN 與強化學習</a:t>
            </a:r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(PPO)</a:t>
            </a: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三大技術於化工製程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提出從離線訓練到線上即時決策的完整架構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具備實際部署可行性，可標準化應用於不同化工廠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7200" y="3886200"/>
            <a:ext cx="5394960" cy="251460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400"/>
              </a:spcAft>
            </a:pPr>
            <a:r>
              <a:rPr lang="zh-TW" altLang="en-US" sz="1800" b="1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🌱 ESG 與永續影響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減少酸鹼藥劑使用，直接降低高濃度廢水排放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節能減碳成果可支持企業淨零排放與 ESG 目標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符合國際化工產業智慧轉型趨勢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17920" y="3886200"/>
            <a:ext cx="5394960" cy="251460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400"/>
              </a:spcAft>
            </a:pPr>
            <a:r>
              <a:rPr lang="zh-TW" altLang="en-US" sz="1800" b="1">
                <a:solidFill>
                  <a:schemeClr val="accent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🚀 未來展望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擴展至其他化工單元（如冷却塔、鍋爐等高耗能設備）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探索模型在不同廠區間的泛化能力與遷移學習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lang="zh-TW" altLang="en-US" sz="1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結合更多感測器數據提升預測精度</a:t>
            </a:r>
          </a:p>
        </p:txBody>
      </p:sp>
    </p:spTree>
    <p:extLst>
      <p:ext uri="{BB962C8B-B14F-4D97-AF65-F5344CB8AC3E}">
        <p14:creationId xmlns:p14="http://schemas.microsoft.com/office/powerpoint/2010/main" val="313220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C5F223F-DE23-11D4-9D76-5C8270FEE5CB}"/>
              </a:ext>
            </a:extLst>
          </p:cNvPr>
          <p:cNvSpPr txBox="1"/>
          <p:nvPr/>
        </p:nvSpPr>
        <p:spPr>
          <a:xfrm>
            <a:off x="2943534" y="2644170"/>
            <a:ext cx="63049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dirty="0">
                <a:solidFill>
                  <a:schemeClr val="accent1"/>
                </a:solidFill>
              </a:rPr>
              <a:t>Thank you!!</a:t>
            </a:r>
            <a:endParaRPr lang="zh-TW" altLang="en-US" sz="9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89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2132</Words>
  <Application>Microsoft Office PowerPoint</Application>
  <PresentationFormat>寬螢幕</PresentationFormat>
  <Paragraphs>310</Paragraphs>
  <Slides>25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0" baseType="lpstr">
      <vt:lpstr>等线</vt:lpstr>
      <vt:lpstr>Aptos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頎祐 林</cp:lastModifiedBy>
  <cp:revision>29</cp:revision>
  <dcterms:modified xsi:type="dcterms:W3CDTF">2026-06-06T14:14:26Z</dcterms:modified>
</cp:coreProperties>
</file>